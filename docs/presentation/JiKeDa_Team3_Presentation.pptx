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a8e9327-ff7c-25b9-4118-fd82f2498e89}">
          <p14:sldIdLst>
            <p14:sldId id="256"/>
            <p14:sldId id="257"/>
            <p14:sldId id="258"/>
          </p14:sldIdLst>
        </p14:section>
        <p14:section name="Project conduct" id="{acc24a65-5be8-3b3c-3f3e-2316314c8227}">
          <p14:sldIdLst>
            <p14:sldId id="259"/>
            <p14:sldId id="260"/>
          </p14:sldIdLst>
        </p14:section>
        <p14:section name="Logical architecture" id="{5abed75a-dd58-a3c0-e9ea-09b8eb1d8160}">
          <p14:sldIdLst>
            <p14:sldId id="261"/>
            <p14:sldId id="262"/>
            <p14:sldId id="263"/>
            <p14:sldId id="264"/>
          </p14:sldIdLst>
        </p14:section>
        <p14:section name="Physical architecture" id="{00d6a1ed-8aac-a322-c31c-f9c5af66d075}">
          <p14:sldIdLst>
            <p14:sldId id="265"/>
            <p14:sldId id="266"/>
            <p14:sldId id="267"/>
            <p14:sldId id="268"/>
            <p14:sldId id="269"/>
          </p14:sldIdLst>
        </p14:section>
        <p14:section name="DevOps and lifecycle" id="{be1e076c-d72a-c4f8-1503-348b1df3a521}">
          <p14:sldIdLst>
            <p14:sldId id="270"/>
            <p14:sldId id="271"/>
            <p14:sldId id="272"/>
            <p14:sldId id="273"/>
          </p14:sldIdLst>
        </p14:section>
        <p14:section name="Demo" id="{88b2da7a-adb0-8330-5942-1260753e65c9}">
          <p14:sldIdLst>
            <p14:sldId id="274"/>
          </p14:sldIdLst>
        </p14:section>
        <p14:section name="Wrap-up" id="{7d2c8bd2-b648-4f67-273c-0dce0d7138b7}">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10 seconds). Introduce the team and the project: JiKeDa is a campus food ordering and delivery platform with four roles. The next two slides give the context and scope (2+1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State the business problem in one sentence: four parties, one order, and the money and stock must stay consistent. Then walk quickly across the four role cards. Stress that each role has its own portal but works on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Platform thinking: the platform has producers (merchants) and consumers (customers), and shared capabilities that all roles use. Out of scope is the list from the proposal. The gaps against the proposal are on the next slide, so say there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proposal promised four services on Azure with Service Bus and measured scale-out. We delivered one modular API on Docker Compose. THE TEAM MUST AGREE ON THE REASON for the change before Wednesday and state it here in one sentence; the technical argument available is that checkout changes cart, stock, coupons and the order in one database transaction. Be direct about what is not built (cloud, scale-out evidence, menu display) and say what you will show instead. Update the CD row if the pull request has been merged and the first CD run has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FILL IN BEFORE PRESENTING: the sprint contents above are a summary, so check them against the team reports. The chart counts commits on main by author, with name variants merged (Lil-Draky is a git handle; replace it with the member name). It is only a proxy. The proposal planned 50 person-days (5 members, about 10 each). Replace the chart with the days each member actually spent, because the guidelines ask for rough total effort per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Lead with the modular monolith: with five people and a checkout that touches cart, stock, coupons and orders, one transaction is worth more than service boundaries. Then the principle that the server is the authority. Mention that we kept clear seams, so the system can be split later if scale demands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Walk left to right. One Vue single-page app serves four portals. The API is one deployable made of feature modules; cross-cutting concerns (authentication, role checks, the uniform response wrapper, exception filter, audit) apply to all of them. PostgreSQL is the only store. The payment provider is outside the boundary and sits behind an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Show how the domain was cut into contexts and why: each has its own vocabulary and rules. Explain producers and consumers: the catalog is produced by merchants and consumed by customers; an order is produced by the customer and consumed by merchant and rider. Be honest that this is DDD-lite: contexts are folders inside one deployable and talk through service interfaces. A real event bus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Pick two examples and tell them properly rather than reading the table. Strategy: merchant offers and platform coupons are two strategies behind one interface. Chain of responsibility: the rider assignment rules run in a fixed order and each can reject. The gateway interface is what lets us demonstrate a declined payment without a real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browser reaches one origin: nginx serves the Vue build and proxies /api to the API container, which talks to PostgreSQL. Containers are hardened: non-root, capabilities dropped, no database port published in staging. GitHub Actions builds and scans the images and pushes them to GHCR; the Compose host pulls them. Be explicit that the host today is a CI runner or a single server, not a cloud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Keep this short; the table is for reference. The important part is the right-hand card, where we state our scaling position honestly. The API is designed to be stateless, so horizontal scaling is possible, but we have not demonstrated it. The database is a single instance, and correctness under concurrency comes from constraints and transactions, not from a single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schema follows the bounded contexts. Spend your time on the right-hand side: the database is the last line of defence. Two requests racing for the last unit, or a retried payment, are stopped by constraints even if application code were wrong. Mention that the schema is created from empty by migrations, and that a migration bug on a fresh database is one of the defects we found (see the DevOps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This is the architecturally representative use case because it crosses four contexts and touches money. Walk the steps. The customer app sends one request with an idempotency key. The server prices the cart itself, claims the cart rows atomically, creates the order, reserves stock, charges, and commits. If any step fails, the whole transaction rolls back, so there is no half-paid state to clean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Pick the two most convincing rows for the live audience: tampering and retry. Each guarantee has a test; the smoke test checks the first, second and fifth rows against a running stack. Offer the demo as proof: we will retry a payment and decline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Source strategy: trunk-based with short-lived branches, protected main, squash merges. Artifacts: images are immutable and tagged by commit; two moving tags make rollback a one-line operation. Secrets are injected at deploy time; a secret scanner fails the build if one is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Left side: six gates run on every pull request; a merge needs all of them. The container stack gate builds the images, starts Compose and runs the 19-step smoke test, so we know the images work before merge. Right side: after a green merge, CD builds, scans before publishing, pushes, deploys, verifies and promotes. If anything fails after deploying, we roll back automatically. Say clearly if the first CD run has or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These numbers come from the latest CI run. Emphasize what green means now compared with before: PostgreSQL tests used to be skipped in CI, and nothing started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"highlight any technical findings and issues". These were found when we ran the merged code on a real PostgreSQL from an empty database, and every one is fixed with a regression test that fails on the old code. The lesson matters more than the bugs: our CI was green while a fresh deployment would have crashed.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minutes plus 2 for questions. Suggested split: use cases about 4.5 minutes; quality attributes about 3.5 minutes. Rehearse once on the staging stack before the session and keep the smoke script ready as a fallback in case of network trouble on Zoom. The guidelines ask for a quality attribute demo such as performance or scalability; if a scripted load test has been added by then, show its result here and update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Close with the lessons. The first next step answers the likely question about scalability: we know what to do, and the architecture leaves room for it, but we have not done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How would you scale it? (stateless API, replicas behind the proxy, one database; not done yet.) Why a monolith? (one transaction across cart, stock and order for a five-person team.) What if the payment provider is slow? (the charge happens inside the transaction today; a real provider would need a pending state and a webhook.) How is double charging prevented? (idempotency key unique per user plus the cart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JiKeDa  ·  Team 3</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name"/>
          <p:cNvSpPr txBox="1"/>
          <p:nvPr/>
        </p:nvSpPr>
        <p:spPr>
          <a:xfrm>
            <a:off x="548640" y="1097280"/>
            <a:ext cx="4754880" cy="914400"/>
          </a:xfrm>
          <a:prstGeom prst="rect">
            <a:avLst/>
          </a:prstGeom>
          <a:noFill/>
          <a:ln/>
        </p:spPr>
        <p:txBody>
          <a:bodyPr wrap="square" lIns="0" tIns="0" rIns="0" bIns="0" rtlCol="0" anchor="t"/>
          <a:lstStyle/>
          <a:p>
            <a:pPr indent="0" marL="0">
              <a:buNone/>
            </a:pPr>
            <a:r>
              <a:rPr lang="en-US" sz="6000" b="1" dirty="0">
                <a:solidFill>
                  <a:schemeClr val="bg1"/>
                </a:solidFill>
              </a:rPr>
              <a:t>JiKeDa</a:t>
            </a:r>
            <a:endParaRPr lang="en-US" sz="6000" dirty="0"/>
          </a:p>
        </p:txBody>
      </p:sp>
      <p:sp>
        <p:nvSpPr>
          <p:cNvPr id="3" name="Subtitle"/>
          <p:cNvSpPr txBox="1"/>
          <p:nvPr/>
        </p:nvSpPr>
        <p:spPr>
          <a:xfrm>
            <a:off x="548640" y="2103120"/>
            <a:ext cx="4572000" cy="548640"/>
          </a:xfrm>
          <a:prstGeom prst="rect">
            <a:avLst/>
          </a:prstGeom>
          <a:noFill/>
          <a:ln/>
        </p:spPr>
        <p:txBody>
          <a:bodyPr wrap="square" lIns="0" tIns="0" rIns="0" bIns="0" rtlCol="0" anchor="t"/>
          <a:lstStyle/>
          <a:p>
            <a:pPr indent="0" marL="0">
              <a:buNone/>
            </a:pPr>
            <a:r>
              <a:rPr lang="en-US" sz="2400" dirty="0">
                <a:solidFill>
                  <a:schemeClr val="accent2"/>
                </a:solidFill>
              </a:rPr>
              <a:t>Campus Food Service Platform</a:t>
            </a:r>
            <a:endParaRPr lang="en-US" sz="2400" dirty="0"/>
          </a:p>
        </p:txBody>
      </p:sp>
      <p:sp>
        <p:nvSpPr>
          <p:cNvPr id="4" name="Context"/>
          <p:cNvSpPr txBox="1"/>
          <p:nvPr/>
        </p:nvSpPr>
        <p:spPr>
          <a:xfrm>
            <a:off x="548640" y="3017520"/>
            <a:ext cx="4754880" cy="640080"/>
          </a:xfrm>
          <a:prstGeom prst="rect">
            <a:avLst/>
          </a:prstGeom>
          <a:noFill/>
          <a:ln/>
        </p:spPr>
        <p:txBody>
          <a:bodyPr wrap="square" lIns="0" tIns="0" rIns="0" bIns="0" rtlCol="0" anchor="t"/>
          <a:lstStyle/>
          <a:p>
            <a:pPr indent="0" marL="0">
              <a:buNone/>
            </a:pPr>
            <a:r>
              <a:rPr lang="en-US" sz="1400" dirty="0">
                <a:solidFill>
                  <a:schemeClr val="bg2"/>
                </a:solidFill>
              </a:rPr>
              <a:t>Team 3  ·  Architecting Scalable Systems (SE34FT)</a:t>
            </a:r>
            <a:endParaRPr lang="en-US" sz="1400" dirty="0"/>
          </a:p>
          <a:p>
            <a:pPr indent="0" marL="0">
              <a:buNone/>
            </a:pPr>
            <a:r>
              <a:rPr lang="en-US" sz="1400" dirty="0">
                <a:solidFill>
                  <a:schemeClr val="bg2"/>
                </a:solidFill>
              </a:rPr>
              <a:t>Practice project presentation  ·  21 October 2026</a:t>
            </a:r>
            <a:endParaRPr lang="en-US" sz="1400" dirty="0"/>
          </a:p>
        </p:txBody>
      </p:sp>
      <p:sp>
        <p:nvSpPr>
          <p:cNvPr id="5" name="Members"/>
          <p:cNvSpPr txBox="1"/>
          <p:nvPr/>
        </p:nvSpPr>
        <p:spPr>
          <a:xfrm>
            <a:off x="548640" y="3931920"/>
            <a:ext cx="4754880" cy="548640"/>
          </a:xfrm>
          <a:prstGeom prst="rect">
            <a:avLst/>
          </a:prstGeom>
          <a:noFill/>
          <a:ln/>
        </p:spPr>
        <p:txBody>
          <a:bodyPr wrap="square" lIns="0" tIns="0" rIns="0" bIns="0" rtlCol="0" anchor="t"/>
          <a:lstStyle/>
          <a:p>
            <a:pPr indent="0" marL="0">
              <a:buNone/>
            </a:pPr>
            <a:r>
              <a:rPr lang="en-US" sz="1200" dirty="0">
                <a:solidFill>
                  <a:schemeClr val="accent5"/>
                </a:solidFill>
              </a:rPr>
              <a:t>Wang Qinyang  ·  Hao Mingyang  ·  Zhao Haotian</a:t>
            </a:r>
            <a:endParaRPr lang="en-US" sz="1200" dirty="0"/>
          </a:p>
          <a:p>
            <a:pPr indent="0" marL="0">
              <a:buNone/>
            </a:pPr>
            <a:r>
              <a:rPr lang="en-US" sz="1200" dirty="0">
                <a:solidFill>
                  <a:schemeClr val="accent5"/>
                </a:solidFill>
              </a:rPr>
              <a:t>Liu Tongyu  ·  Tang Jinfan</a:t>
            </a:r>
            <a:endParaRPr lang="en-US" sz="1200" dirty="0"/>
          </a:p>
        </p:txBody>
      </p:sp>
      <p:sp>
        <p:nvSpPr>
          <p:cNvPr id="6" name="Customer badge"/>
          <p:cNvSpPr/>
          <p:nvPr/>
        </p:nvSpPr>
        <p:spPr>
          <a:xfrm>
            <a:off x="6035040" y="1234440"/>
            <a:ext cx="1097280" cy="1097280"/>
          </a:xfrm>
          <a:prstGeom prst="ellipse">
            <a:avLst/>
          </a:prstGeom>
          <a:solidFill>
            <a:schemeClr val="accent1"/>
          </a:solidFill>
          <a:ln w="12700">
            <a:solidFill>
              <a:schemeClr val="accent1"/>
            </a:solidFill>
            <a:prstDash val="solid"/>
          </a:ln>
        </p:spPr>
      </p:sp>
      <p:pic>
        <p:nvPicPr>
          <p:cNvPr id="7" name="Image 0" descr="Customer icon">    </p:cNvPr>
          <p:cNvPicPr>
            <a:picLocks noChangeAspect="1"/>
          </p:cNvPicPr>
          <p:nvPr/>
        </p:nvPicPr>
        <p:blipFill>
          <a:blip r:embed="rId1"/>
          <a:stretch>
            <a:fillRect/>
          </a:stretch>
        </p:blipFill>
        <p:spPr>
          <a:xfrm>
            <a:off x="6336792" y="1536192"/>
            <a:ext cx="493776" cy="493776"/>
          </a:xfrm>
          <a:prstGeom prst="rect">
            <a:avLst/>
          </a:prstGeom>
        </p:spPr>
      </p:pic>
      <p:sp>
        <p:nvSpPr>
          <p:cNvPr id="8" name="Customer label"/>
          <p:cNvSpPr txBox="1"/>
          <p:nvPr/>
        </p:nvSpPr>
        <p:spPr>
          <a:xfrm>
            <a:off x="5852160" y="242316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Customer</a:t>
            </a:r>
            <a:endParaRPr lang="en-US" sz="1300" dirty="0"/>
          </a:p>
        </p:txBody>
      </p:sp>
      <p:sp>
        <p:nvSpPr>
          <p:cNvPr id="9" name="Merchant badge"/>
          <p:cNvSpPr/>
          <p:nvPr/>
        </p:nvSpPr>
        <p:spPr>
          <a:xfrm>
            <a:off x="7589520" y="1234440"/>
            <a:ext cx="1097280" cy="1097280"/>
          </a:xfrm>
          <a:prstGeom prst="ellipse">
            <a:avLst/>
          </a:prstGeom>
          <a:solidFill>
            <a:schemeClr val="accent2"/>
          </a:solidFill>
          <a:ln w="12700">
            <a:solidFill>
              <a:schemeClr val="accent2"/>
            </a:solidFill>
            <a:prstDash val="solid"/>
          </a:ln>
        </p:spPr>
      </p:sp>
      <p:pic>
        <p:nvPicPr>
          <p:cNvPr id="10" name="Image 1" descr="Merchant icon">    </p:cNvPr>
          <p:cNvPicPr>
            <a:picLocks noChangeAspect="1"/>
          </p:cNvPicPr>
          <p:nvPr/>
        </p:nvPicPr>
        <p:blipFill>
          <a:blip r:embed="rId2"/>
          <a:stretch>
            <a:fillRect/>
          </a:stretch>
        </p:blipFill>
        <p:spPr>
          <a:xfrm>
            <a:off x="7891272" y="1536192"/>
            <a:ext cx="493776" cy="493776"/>
          </a:xfrm>
          <a:prstGeom prst="rect">
            <a:avLst/>
          </a:prstGeom>
        </p:spPr>
      </p:pic>
      <p:sp>
        <p:nvSpPr>
          <p:cNvPr id="11" name="Merchant label"/>
          <p:cNvSpPr txBox="1"/>
          <p:nvPr/>
        </p:nvSpPr>
        <p:spPr>
          <a:xfrm>
            <a:off x="7406640" y="242316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Merchant</a:t>
            </a:r>
            <a:endParaRPr lang="en-US" sz="1300" dirty="0"/>
          </a:p>
        </p:txBody>
      </p:sp>
      <p:sp>
        <p:nvSpPr>
          <p:cNvPr id="12" name="Rider badge"/>
          <p:cNvSpPr/>
          <p:nvPr/>
        </p:nvSpPr>
        <p:spPr>
          <a:xfrm>
            <a:off x="6035040" y="2971800"/>
            <a:ext cx="1097280" cy="1097280"/>
          </a:xfrm>
          <a:prstGeom prst="ellipse">
            <a:avLst/>
          </a:prstGeom>
          <a:solidFill>
            <a:schemeClr val="accent3"/>
          </a:solidFill>
          <a:ln w="12700">
            <a:solidFill>
              <a:schemeClr val="accent3"/>
            </a:solidFill>
            <a:prstDash val="solid"/>
          </a:ln>
        </p:spPr>
      </p:sp>
      <p:pic>
        <p:nvPicPr>
          <p:cNvPr id="13" name="Image 2" descr="Rider icon">    </p:cNvPr>
          <p:cNvPicPr>
            <a:picLocks noChangeAspect="1"/>
          </p:cNvPicPr>
          <p:nvPr/>
        </p:nvPicPr>
        <p:blipFill>
          <a:blip r:embed="rId3"/>
          <a:stretch>
            <a:fillRect/>
          </a:stretch>
        </p:blipFill>
        <p:spPr>
          <a:xfrm>
            <a:off x="6336792" y="3273552"/>
            <a:ext cx="493776" cy="493776"/>
          </a:xfrm>
          <a:prstGeom prst="rect">
            <a:avLst/>
          </a:prstGeom>
        </p:spPr>
      </p:pic>
      <p:sp>
        <p:nvSpPr>
          <p:cNvPr id="14" name="Rider label"/>
          <p:cNvSpPr txBox="1"/>
          <p:nvPr/>
        </p:nvSpPr>
        <p:spPr>
          <a:xfrm>
            <a:off x="5852160" y="416052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Rider</a:t>
            </a:r>
            <a:endParaRPr lang="en-US" sz="1300" dirty="0"/>
          </a:p>
        </p:txBody>
      </p:sp>
      <p:sp>
        <p:nvSpPr>
          <p:cNvPr id="15" name="Administrator badge"/>
          <p:cNvSpPr/>
          <p:nvPr/>
        </p:nvSpPr>
        <p:spPr>
          <a:xfrm>
            <a:off x="7589520" y="2971800"/>
            <a:ext cx="1097280" cy="1097280"/>
          </a:xfrm>
          <a:prstGeom prst="ellipse">
            <a:avLst/>
          </a:prstGeom>
          <a:solidFill>
            <a:schemeClr val="accent6"/>
          </a:solidFill>
          <a:ln w="12700">
            <a:solidFill>
              <a:schemeClr val="accent6"/>
            </a:solidFill>
            <a:prstDash val="solid"/>
          </a:ln>
        </p:spPr>
      </p:sp>
      <p:pic>
        <p:nvPicPr>
          <p:cNvPr id="16" name="Image 3" descr="Administrator icon">    </p:cNvPr>
          <p:cNvPicPr>
            <a:picLocks noChangeAspect="1"/>
          </p:cNvPicPr>
          <p:nvPr/>
        </p:nvPicPr>
        <p:blipFill>
          <a:blip r:embed="rId4"/>
          <a:stretch>
            <a:fillRect/>
          </a:stretch>
        </p:blipFill>
        <p:spPr>
          <a:xfrm>
            <a:off x="7891272" y="3273552"/>
            <a:ext cx="493776" cy="493776"/>
          </a:xfrm>
          <a:prstGeom prst="rect">
            <a:avLst/>
          </a:prstGeom>
        </p:spPr>
      </p:pic>
      <p:sp>
        <p:nvSpPr>
          <p:cNvPr id="17" name="Administrator label"/>
          <p:cNvSpPr txBox="1"/>
          <p:nvPr/>
        </p:nvSpPr>
        <p:spPr>
          <a:xfrm>
            <a:off x="7406640" y="416052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Administrator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order, four roles</a:t>
            </a:r>
            <a:endParaRPr lang="en-US" sz="3000" dirty="0"/>
          </a:p>
        </p:txBody>
      </p:sp>
      <p:sp>
        <p:nvSpPr>
          <p:cNvPr id="3" name="Problem heading"/>
          <p:cNvSpPr txBox="1"/>
          <p:nvPr/>
        </p:nvSpPr>
        <p:spPr>
          <a:xfrm>
            <a:off x="457200" y="1143000"/>
            <a:ext cx="3931920" cy="320040"/>
          </a:xfrm>
          <a:prstGeom prst="rect">
            <a:avLst/>
          </a:prstGeom>
          <a:noFill/>
          <a:ln/>
        </p:spPr>
        <p:txBody>
          <a:bodyPr wrap="square" lIns="0" tIns="0" rIns="0" bIns="0" rtlCol="0" anchor="t"/>
          <a:lstStyle/>
          <a:p>
            <a:pPr indent="0" marL="0">
              <a:buNone/>
            </a:pPr>
            <a:r>
              <a:rPr lang="en-US" sz="1800" b="1" dirty="0">
                <a:solidFill>
                  <a:schemeClr val="accent1"/>
                </a:solidFill>
              </a:rPr>
              <a:t>The business problem</a:t>
            </a:r>
            <a:endParaRPr lang="en-US" sz="1800" dirty="0"/>
          </a:p>
        </p:txBody>
      </p:sp>
      <p:sp>
        <p:nvSpPr>
          <p:cNvPr id="4" name="Problem points"/>
          <p:cNvSpPr txBox="1"/>
          <p:nvPr/>
        </p:nvSpPr>
        <p:spPr>
          <a:xfrm>
            <a:off x="457200" y="1554480"/>
            <a:ext cx="393192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Customers, merchants, riders and administrators need consistent information about menus, prices, stock, orders and delivery.</a:t>
            </a:r>
            <a:endParaRPr lang="en-US" sz="1500" dirty="0"/>
          </a:p>
          <a:p>
            <a:pPr marL="177800" indent="-177800">
              <a:spcAft>
                <a:spcPts val="600"/>
              </a:spcAft>
              <a:buSzPct val="100000"/>
              <a:buChar char="•"/>
            </a:pPr>
            <a:r>
              <a:rPr lang="en-US" sz="1500" dirty="0">
                <a:solidFill>
                  <a:schemeClr val="tx1"/>
                </a:solidFill>
              </a:rPr>
              <a:t>Separate processes cause conflicting stock values, missed delivery tasks and order states that are hard to trace.</a:t>
            </a:r>
            <a:endParaRPr lang="en-US" sz="1500" dirty="0"/>
          </a:p>
          <a:p>
            <a:pPr marL="177800" indent="-177800">
              <a:spcAft>
                <a:spcPts val="600"/>
              </a:spcAft>
              <a:buSzPct val="100000"/>
              <a:buChar char="•"/>
            </a:pPr>
            <a:r>
              <a:rPr lang="en-US" sz="1500" dirty="0">
                <a:solidFill>
                  <a:schemeClr val="tx1"/>
                </a:solidFill>
              </a:rPr>
              <a:t>Prices, stock and payment must stay correct while many people order at once.</a:t>
            </a:r>
            <a:endParaRPr lang="en-US" sz="1500" dirty="0"/>
          </a:p>
        </p:txBody>
      </p:sp>
      <p:sp>
        <p:nvSpPr>
          <p:cNvPr id="5" name="Goal card"/>
          <p:cNvSpPr/>
          <p:nvPr/>
        </p:nvSpPr>
        <p:spPr>
          <a:xfrm>
            <a:off x="457200" y="3749040"/>
            <a:ext cx="3931920" cy="777240"/>
          </a:xfrm>
          <a:prstGeom prst="roundRect">
            <a:avLst>
              <a:gd name="adj" fmla="val 9412"/>
            </a:avLst>
          </a:prstGeom>
          <a:solidFill>
            <a:schemeClr val="tx1"/>
          </a:solidFill>
          <a:ln w="12700">
            <a:solidFill>
              <a:schemeClr val="tx1"/>
            </a:solidFill>
            <a:prstDash val="solid"/>
          </a:ln>
        </p:spPr>
      </p:sp>
      <p:sp>
        <p:nvSpPr>
          <p:cNvPr id="6" name="Goal text"/>
          <p:cNvSpPr txBox="1"/>
          <p:nvPr/>
        </p:nvSpPr>
        <p:spPr>
          <a:xfrm>
            <a:off x="640080" y="3840480"/>
            <a:ext cx="3566160" cy="594360"/>
          </a:xfrm>
          <a:prstGeom prst="rect">
            <a:avLst/>
          </a:prstGeom>
          <a:noFill/>
          <a:ln/>
        </p:spPr>
        <p:txBody>
          <a:bodyPr wrap="square" lIns="0" tIns="0" rIns="0" bIns="0" rtlCol="0" anchor="ctr"/>
          <a:lstStyle/>
          <a:p>
            <a:pPr indent="0" marL="0">
              <a:buNone/>
            </a:pPr>
            <a:r>
              <a:rPr lang="en-US" sz="1400" b="1" dirty="0">
                <a:solidFill>
                  <a:schemeClr val="bg1"/>
                </a:solidFill>
              </a:rPr>
              <a:t>Goal: one platform that takes an order from checkout to delivery, correctly, for every role.</a:t>
            </a:r>
            <a:endParaRPr lang="en-US" sz="1400" dirty="0"/>
          </a:p>
        </p:txBody>
      </p:sp>
      <p:sp>
        <p:nvSpPr>
          <p:cNvPr id="7" name="Customer card"/>
          <p:cNvSpPr/>
          <p:nvPr/>
        </p:nvSpPr>
        <p:spPr>
          <a:xfrm>
            <a:off x="4663440" y="1143000"/>
            <a:ext cx="1965960" cy="1645920"/>
          </a:xfrm>
          <a:prstGeom prst="roundRect">
            <a:avLst>
              <a:gd name="adj" fmla="val 4444"/>
            </a:avLst>
          </a:prstGeom>
          <a:solidFill>
            <a:schemeClr val="bg2"/>
          </a:solidFill>
          <a:ln w="12700">
            <a:solidFill>
              <a:schemeClr val="bg2"/>
            </a:solidFill>
            <a:prstDash val="solid"/>
          </a:ln>
        </p:spPr>
      </p:sp>
      <p:sp>
        <p:nvSpPr>
          <p:cNvPr id="8" name="Customer badge"/>
          <p:cNvSpPr/>
          <p:nvPr/>
        </p:nvSpPr>
        <p:spPr>
          <a:xfrm>
            <a:off x="4800600" y="1280160"/>
            <a:ext cx="457200" cy="457200"/>
          </a:xfrm>
          <a:prstGeom prst="ellipse">
            <a:avLst/>
          </a:prstGeom>
          <a:solidFill>
            <a:schemeClr val="accent1"/>
          </a:solidFill>
          <a:ln w="12700">
            <a:solidFill>
              <a:schemeClr val="accent1"/>
            </a:solidFill>
            <a:prstDash val="solid"/>
          </a:ln>
        </p:spPr>
      </p:sp>
      <p:pic>
        <p:nvPicPr>
          <p:cNvPr id="9" name="Image 0" descr="Customer icon">    </p:cNvPr>
          <p:cNvPicPr>
            <a:picLocks noChangeAspect="1"/>
          </p:cNvPicPr>
          <p:nvPr/>
        </p:nvPicPr>
        <p:blipFill>
          <a:blip r:embed="rId1"/>
          <a:stretch>
            <a:fillRect/>
          </a:stretch>
        </p:blipFill>
        <p:spPr>
          <a:xfrm>
            <a:off x="4919472" y="1399032"/>
            <a:ext cx="219456" cy="219456"/>
          </a:xfrm>
          <a:prstGeom prst="rect">
            <a:avLst/>
          </a:prstGeom>
        </p:spPr>
      </p:pic>
      <p:sp>
        <p:nvSpPr>
          <p:cNvPr id="10" name="Customer name"/>
          <p:cNvSpPr txBox="1"/>
          <p:nvPr/>
        </p:nvSpPr>
        <p:spPr>
          <a:xfrm>
            <a:off x="5349240" y="132588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Customer</a:t>
            </a:r>
            <a:endParaRPr lang="en-US" sz="1400" dirty="0"/>
          </a:p>
        </p:txBody>
      </p:sp>
      <p:sp>
        <p:nvSpPr>
          <p:cNvPr id="11" name="Customer text"/>
          <p:cNvSpPr txBox="1"/>
          <p:nvPr/>
        </p:nvSpPr>
        <p:spPr>
          <a:xfrm>
            <a:off x="4800600" y="1874520"/>
            <a:ext cx="1737360" cy="868680"/>
          </a:xfrm>
          <a:prstGeom prst="rect">
            <a:avLst/>
          </a:prstGeom>
          <a:noFill/>
          <a:ln/>
        </p:spPr>
        <p:txBody>
          <a:bodyPr wrap="square" lIns="0" tIns="0" rIns="0" bIns="0" rtlCol="0" anchor="t"/>
          <a:lstStyle/>
          <a:p>
            <a:pPr indent="0" marL="0">
              <a:buNone/>
            </a:pPr>
            <a:r>
              <a:rPr lang="en-US" sz="1200" dirty="0">
                <a:solidFill>
                  <a:schemeClr val="tx1"/>
                </a:solidFill>
              </a:rPr>
              <a:t>Browse menus, fill a cart, apply coupons, pay, follow the order</a:t>
            </a:r>
            <a:endParaRPr lang="en-US" sz="1200" dirty="0"/>
          </a:p>
        </p:txBody>
      </p:sp>
      <p:sp>
        <p:nvSpPr>
          <p:cNvPr id="12" name="Merchant card"/>
          <p:cNvSpPr/>
          <p:nvPr/>
        </p:nvSpPr>
        <p:spPr>
          <a:xfrm>
            <a:off x="6720840" y="1143000"/>
            <a:ext cx="1965960" cy="1645920"/>
          </a:xfrm>
          <a:prstGeom prst="roundRect">
            <a:avLst>
              <a:gd name="adj" fmla="val 4444"/>
            </a:avLst>
          </a:prstGeom>
          <a:solidFill>
            <a:schemeClr val="bg2"/>
          </a:solidFill>
          <a:ln w="12700">
            <a:solidFill>
              <a:schemeClr val="bg2"/>
            </a:solidFill>
            <a:prstDash val="solid"/>
          </a:ln>
        </p:spPr>
      </p:sp>
      <p:sp>
        <p:nvSpPr>
          <p:cNvPr id="13" name="Merchant badge"/>
          <p:cNvSpPr/>
          <p:nvPr/>
        </p:nvSpPr>
        <p:spPr>
          <a:xfrm>
            <a:off x="6858000" y="1280160"/>
            <a:ext cx="457200" cy="457200"/>
          </a:xfrm>
          <a:prstGeom prst="ellipse">
            <a:avLst/>
          </a:prstGeom>
          <a:solidFill>
            <a:schemeClr val="accent2"/>
          </a:solidFill>
          <a:ln w="12700">
            <a:solidFill>
              <a:schemeClr val="accent2"/>
            </a:solidFill>
            <a:prstDash val="solid"/>
          </a:ln>
        </p:spPr>
      </p:sp>
      <p:pic>
        <p:nvPicPr>
          <p:cNvPr id="14" name="Image 1" descr="Merchant icon">    </p:cNvPr>
          <p:cNvPicPr>
            <a:picLocks noChangeAspect="1"/>
          </p:cNvPicPr>
          <p:nvPr/>
        </p:nvPicPr>
        <p:blipFill>
          <a:blip r:embed="rId2"/>
          <a:stretch>
            <a:fillRect/>
          </a:stretch>
        </p:blipFill>
        <p:spPr>
          <a:xfrm>
            <a:off x="6976872" y="1399032"/>
            <a:ext cx="219456" cy="219456"/>
          </a:xfrm>
          <a:prstGeom prst="rect">
            <a:avLst/>
          </a:prstGeom>
        </p:spPr>
      </p:pic>
      <p:sp>
        <p:nvSpPr>
          <p:cNvPr id="15" name="Merchant name"/>
          <p:cNvSpPr txBox="1"/>
          <p:nvPr/>
        </p:nvSpPr>
        <p:spPr>
          <a:xfrm>
            <a:off x="7406640" y="132588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Merchant</a:t>
            </a:r>
            <a:endParaRPr lang="en-US" sz="1400" dirty="0"/>
          </a:p>
        </p:txBody>
      </p:sp>
      <p:sp>
        <p:nvSpPr>
          <p:cNvPr id="16" name="Merchant text"/>
          <p:cNvSpPr txBox="1"/>
          <p:nvPr/>
        </p:nvSpPr>
        <p:spPr>
          <a:xfrm>
            <a:off x="6858000" y="1874520"/>
            <a:ext cx="1737360" cy="868680"/>
          </a:xfrm>
          <a:prstGeom prst="rect">
            <a:avLst/>
          </a:prstGeom>
          <a:noFill/>
          <a:ln/>
        </p:spPr>
        <p:txBody>
          <a:bodyPr wrap="square" lIns="0" tIns="0" rIns="0" bIns="0" rtlCol="0" anchor="t"/>
          <a:lstStyle/>
          <a:p>
            <a:pPr indent="0" marL="0">
              <a:buNone/>
            </a:pPr>
            <a:r>
              <a:rPr lang="en-US" sz="1200" dirty="0">
                <a:solidFill>
                  <a:schemeClr val="tx1"/>
                </a:solidFill>
              </a:rPr>
              <a:t>Publish menu, stock and offers; accept, prepare and hand over orders</a:t>
            </a:r>
            <a:endParaRPr lang="en-US" sz="1200" dirty="0"/>
          </a:p>
        </p:txBody>
      </p:sp>
      <p:sp>
        <p:nvSpPr>
          <p:cNvPr id="17" name="Rider card"/>
          <p:cNvSpPr/>
          <p:nvPr/>
        </p:nvSpPr>
        <p:spPr>
          <a:xfrm>
            <a:off x="4663440" y="2880360"/>
            <a:ext cx="1965960" cy="1645920"/>
          </a:xfrm>
          <a:prstGeom prst="roundRect">
            <a:avLst>
              <a:gd name="adj" fmla="val 4444"/>
            </a:avLst>
          </a:prstGeom>
          <a:solidFill>
            <a:schemeClr val="bg2"/>
          </a:solidFill>
          <a:ln w="12700">
            <a:solidFill>
              <a:schemeClr val="bg2"/>
            </a:solidFill>
            <a:prstDash val="solid"/>
          </a:ln>
        </p:spPr>
      </p:sp>
      <p:sp>
        <p:nvSpPr>
          <p:cNvPr id="18" name="Rider badge"/>
          <p:cNvSpPr/>
          <p:nvPr/>
        </p:nvSpPr>
        <p:spPr>
          <a:xfrm>
            <a:off x="4800600" y="3017520"/>
            <a:ext cx="457200" cy="457200"/>
          </a:xfrm>
          <a:prstGeom prst="ellipse">
            <a:avLst/>
          </a:prstGeom>
          <a:solidFill>
            <a:schemeClr val="accent3"/>
          </a:solidFill>
          <a:ln w="12700">
            <a:solidFill>
              <a:schemeClr val="accent3"/>
            </a:solidFill>
            <a:prstDash val="solid"/>
          </a:ln>
        </p:spPr>
      </p:sp>
      <p:pic>
        <p:nvPicPr>
          <p:cNvPr id="19" name="Image 2" descr="Rider icon">    </p:cNvPr>
          <p:cNvPicPr>
            <a:picLocks noChangeAspect="1"/>
          </p:cNvPicPr>
          <p:nvPr/>
        </p:nvPicPr>
        <p:blipFill>
          <a:blip r:embed="rId3"/>
          <a:stretch>
            <a:fillRect/>
          </a:stretch>
        </p:blipFill>
        <p:spPr>
          <a:xfrm>
            <a:off x="4919472" y="3136392"/>
            <a:ext cx="219456" cy="219456"/>
          </a:xfrm>
          <a:prstGeom prst="rect">
            <a:avLst/>
          </a:prstGeom>
        </p:spPr>
      </p:pic>
      <p:sp>
        <p:nvSpPr>
          <p:cNvPr id="20" name="Rider name"/>
          <p:cNvSpPr txBox="1"/>
          <p:nvPr/>
        </p:nvSpPr>
        <p:spPr>
          <a:xfrm>
            <a:off x="5349240" y="306324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Rider</a:t>
            </a:r>
            <a:endParaRPr lang="en-US" sz="1400" dirty="0"/>
          </a:p>
        </p:txBody>
      </p:sp>
      <p:sp>
        <p:nvSpPr>
          <p:cNvPr id="21" name="Rider text"/>
          <p:cNvSpPr txBox="1"/>
          <p:nvPr/>
        </p:nvSpPr>
        <p:spPr>
          <a:xfrm>
            <a:off x="4800600" y="3611880"/>
            <a:ext cx="1737360" cy="868680"/>
          </a:xfrm>
          <a:prstGeom prst="rect">
            <a:avLst/>
          </a:prstGeom>
          <a:noFill/>
          <a:ln/>
        </p:spPr>
        <p:txBody>
          <a:bodyPr wrap="square" lIns="0" tIns="0" rIns="0" bIns="0" rtlCol="0" anchor="t"/>
          <a:lstStyle/>
          <a:p>
            <a:pPr indent="0" marL="0">
              <a:buNone/>
            </a:pPr>
            <a:r>
              <a:rPr lang="en-US" sz="1200" dirty="0">
                <a:solidFill>
                  <a:schemeClr val="tx1"/>
                </a:solidFill>
              </a:rPr>
              <a:t>See ready orders, claim one, pick up, deliver, complete</a:t>
            </a:r>
            <a:endParaRPr lang="en-US" sz="1200" dirty="0"/>
          </a:p>
        </p:txBody>
      </p:sp>
      <p:sp>
        <p:nvSpPr>
          <p:cNvPr id="22" name="Administrator card"/>
          <p:cNvSpPr/>
          <p:nvPr/>
        </p:nvSpPr>
        <p:spPr>
          <a:xfrm>
            <a:off x="6720840" y="2880360"/>
            <a:ext cx="1965960" cy="1645920"/>
          </a:xfrm>
          <a:prstGeom prst="roundRect">
            <a:avLst>
              <a:gd name="adj" fmla="val 4444"/>
            </a:avLst>
          </a:prstGeom>
          <a:solidFill>
            <a:schemeClr val="bg2"/>
          </a:solidFill>
          <a:ln w="12700">
            <a:solidFill>
              <a:schemeClr val="bg2"/>
            </a:solidFill>
            <a:prstDash val="solid"/>
          </a:ln>
        </p:spPr>
      </p:sp>
      <p:sp>
        <p:nvSpPr>
          <p:cNvPr id="23" name="Administrator badge"/>
          <p:cNvSpPr/>
          <p:nvPr/>
        </p:nvSpPr>
        <p:spPr>
          <a:xfrm>
            <a:off x="6858000" y="3017520"/>
            <a:ext cx="457200" cy="457200"/>
          </a:xfrm>
          <a:prstGeom prst="ellipse">
            <a:avLst/>
          </a:prstGeom>
          <a:solidFill>
            <a:schemeClr val="accent6"/>
          </a:solidFill>
          <a:ln w="12700">
            <a:solidFill>
              <a:schemeClr val="accent6"/>
            </a:solidFill>
            <a:prstDash val="solid"/>
          </a:ln>
        </p:spPr>
      </p:sp>
      <p:pic>
        <p:nvPicPr>
          <p:cNvPr id="24" name="Image 3" descr="Administrator icon">    </p:cNvPr>
          <p:cNvPicPr>
            <a:picLocks noChangeAspect="1"/>
          </p:cNvPicPr>
          <p:nvPr/>
        </p:nvPicPr>
        <p:blipFill>
          <a:blip r:embed="rId4"/>
          <a:stretch>
            <a:fillRect/>
          </a:stretch>
        </p:blipFill>
        <p:spPr>
          <a:xfrm>
            <a:off x="6976872" y="3136392"/>
            <a:ext cx="219456" cy="219456"/>
          </a:xfrm>
          <a:prstGeom prst="rect">
            <a:avLst/>
          </a:prstGeom>
        </p:spPr>
      </p:pic>
      <p:sp>
        <p:nvSpPr>
          <p:cNvPr id="25" name="Administrator name"/>
          <p:cNvSpPr txBox="1"/>
          <p:nvPr/>
        </p:nvSpPr>
        <p:spPr>
          <a:xfrm>
            <a:off x="7406640" y="306324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Administrator</a:t>
            </a:r>
            <a:endParaRPr lang="en-US" sz="1400" dirty="0"/>
          </a:p>
        </p:txBody>
      </p:sp>
      <p:sp>
        <p:nvSpPr>
          <p:cNvPr id="26" name="Administrator text"/>
          <p:cNvSpPr txBox="1"/>
          <p:nvPr/>
        </p:nvSpPr>
        <p:spPr>
          <a:xfrm>
            <a:off x="6858000" y="3611880"/>
            <a:ext cx="1737360" cy="868680"/>
          </a:xfrm>
          <a:prstGeom prst="rect">
            <a:avLst/>
          </a:prstGeom>
          <a:noFill/>
          <a:ln/>
        </p:spPr>
        <p:txBody>
          <a:bodyPr wrap="square" lIns="0" tIns="0" rIns="0" bIns="0" rtlCol="0" anchor="t"/>
          <a:lstStyle/>
          <a:p>
            <a:pPr indent="0" marL="0">
              <a:buNone/>
            </a:pPr>
            <a:r>
              <a:rPr lang="en-US" sz="1200" dirty="0">
                <a:solidFill>
                  <a:schemeClr val="tx1"/>
                </a:solidFill>
              </a:rPr>
              <a:t>Manage accounts and coupons, search orders, read the audit log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Platform thinking and scope</a:t>
            </a:r>
            <a:endParaRPr lang="en-US" sz="3000" dirty="0"/>
          </a:p>
        </p:txBody>
      </p:sp>
      <p:sp>
        <p:nvSpPr>
          <p:cNvPr id="3" name="Platform card"/>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Platform heading"/>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800" b="1" dirty="0">
                <a:solidFill>
                  <a:schemeClr val="accent1"/>
                </a:solidFill>
              </a:rPr>
              <a:t>Platform thinking</a:t>
            </a:r>
            <a:endParaRPr lang="en-US" sz="1800" dirty="0"/>
          </a:p>
        </p:txBody>
      </p:sp>
      <p:sp>
        <p:nvSpPr>
          <p:cNvPr id="5" name="Platform points"/>
          <p:cNvSpPr txBox="1"/>
          <p:nvPr/>
        </p:nvSpPr>
        <p:spPr>
          <a:xfrm>
            <a:off x="640080" y="1645920"/>
            <a:ext cx="3657600" cy="2834640"/>
          </a:xfrm>
          <a:prstGeom prst="rect">
            <a:avLst/>
          </a:prstGeom>
          <a:noFill/>
          <a:ln/>
        </p:spPr>
        <p:txBody>
          <a:bodyPr wrap="square" lIns="0" tIns="0" rIns="0" bIns="0" rtlCol="0" anchor="t"/>
          <a:lstStyle/>
          <a:p>
            <a:pPr indent="0" marL="0">
              <a:spcAft>
                <a:spcPts val="900"/>
              </a:spcAft>
              <a:buNone/>
            </a:pPr>
            <a:r>
              <a:rPr lang="en-US" sz="1400" b="1" dirty="0">
                <a:solidFill>
                  <a:schemeClr val="tx1"/>
                </a:solidFill>
              </a:rPr>
              <a:t>Seed. </a:t>
            </a:r>
            <a:pPr indent="0" marL="0">
              <a:spcAft>
                <a:spcPts val="900"/>
              </a:spcAft>
              <a:buNone/>
            </a:pPr>
            <a:r>
              <a:rPr lang="en-US" sz="1400" dirty="0">
                <a:solidFill>
                  <a:schemeClr val="tx1"/>
                </a:solidFill>
              </a:rPr>
              <a:t>The platform core: identity, catalog, ordering, fulfilment, with shared rules and APIs.</a:t>
            </a:r>
            <a:endParaRPr lang="en-US" sz="1400" dirty="0"/>
          </a:p>
          <a:p>
            <a:pPr indent="0" marL="0">
              <a:spcAft>
                <a:spcPts val="900"/>
              </a:spcAft>
              <a:buNone/>
            </a:pPr>
            <a:r>
              <a:rPr lang="en-US" sz="1400" b="1" dirty="0">
                <a:solidFill>
                  <a:schemeClr val="tx1"/>
                </a:solidFill>
              </a:rPr>
              <a:t>Producers. </a:t>
            </a:r>
            <a:pPr indent="0" marL="0">
              <a:spcAft>
                <a:spcPts val="900"/>
              </a:spcAft>
              <a:buNone/>
            </a:pPr>
            <a:r>
              <a:rPr lang="en-US" sz="1400" dirty="0">
                <a:solidFill>
                  <a:schemeClr val="tx1"/>
                </a:solidFill>
              </a:rPr>
              <a:t>Merchants and administrators publish menus, prices, stock, promotions and coupons.</a:t>
            </a:r>
            <a:endParaRPr lang="en-US" sz="1400" dirty="0"/>
          </a:p>
          <a:p>
            <a:pPr indent="0" marL="0">
              <a:spcAft>
                <a:spcPts val="900"/>
              </a:spcAft>
              <a:buNone/>
            </a:pPr>
            <a:r>
              <a:rPr lang="en-US" sz="1400" b="1" dirty="0">
                <a:solidFill>
                  <a:schemeClr val="tx1"/>
                </a:solidFill>
              </a:rPr>
              <a:t>Consumers. </a:t>
            </a:r>
            <a:pPr indent="0" marL="0">
              <a:spcAft>
                <a:spcPts val="900"/>
              </a:spcAft>
              <a:buNone/>
            </a:pPr>
            <a:r>
              <a:rPr lang="en-US" sz="1400" dirty="0">
                <a:solidFill>
                  <a:schemeClr val="tx1"/>
                </a:solidFill>
              </a:rPr>
              <a:t>Customers browse and order; riders take delivery tasks; administrators review.</a:t>
            </a:r>
            <a:endParaRPr lang="en-US" sz="1400" dirty="0"/>
          </a:p>
          <a:p>
            <a:pPr indent="0" marL="0">
              <a:spcAft>
                <a:spcPts val="900"/>
              </a:spcAft>
              <a:buNone/>
            </a:pPr>
            <a:r>
              <a:rPr lang="en-US" sz="1400" b="1" dirty="0">
                <a:solidFill>
                  <a:schemeClr val="tx1"/>
                </a:solidFill>
              </a:rPr>
              <a:t>Platform operators. </a:t>
            </a:r>
            <a:pPr indent="0" marL="0">
              <a:buNone/>
            </a:pPr>
            <a:r>
              <a:rPr lang="en-US" sz="1400" dirty="0">
                <a:solidFill>
                  <a:schemeClr val="tx1"/>
                </a:solidFill>
              </a:rPr>
              <a:t>The team runs the pipeline, staging and releases.</a:t>
            </a:r>
            <a:endParaRPr lang="en-US" sz="1400" dirty="0"/>
          </a:p>
        </p:txBody>
      </p:sp>
      <p:sp>
        <p:nvSpPr>
          <p:cNvPr id="6" name="In scope card"/>
          <p:cNvSpPr/>
          <p:nvPr/>
        </p:nvSpPr>
        <p:spPr>
          <a:xfrm>
            <a:off x="4663440" y="1097280"/>
            <a:ext cx="2103120" cy="3474720"/>
          </a:xfrm>
          <a:prstGeom prst="roundRect">
            <a:avLst>
              <a:gd name="adj" fmla="val 3478"/>
            </a:avLst>
          </a:prstGeom>
          <a:solidFill>
            <a:schemeClr val="bg2"/>
          </a:solidFill>
          <a:ln w="12700">
            <a:solidFill>
              <a:schemeClr val="bg2"/>
            </a:solidFill>
            <a:prstDash val="solid"/>
          </a:ln>
        </p:spPr>
      </p:sp>
      <p:sp>
        <p:nvSpPr>
          <p:cNvPr id="7" name="In scope heading"/>
          <p:cNvSpPr txBox="1"/>
          <p:nvPr/>
        </p:nvSpPr>
        <p:spPr>
          <a:xfrm>
            <a:off x="4800600" y="1234440"/>
            <a:ext cx="1828800" cy="320040"/>
          </a:xfrm>
          <a:prstGeom prst="rect">
            <a:avLst/>
          </a:prstGeom>
          <a:noFill/>
          <a:ln/>
        </p:spPr>
        <p:txBody>
          <a:bodyPr wrap="square" lIns="0" tIns="0" rIns="0" bIns="0" rtlCol="0" anchor="t"/>
          <a:lstStyle/>
          <a:p>
            <a:pPr indent="0" marL="0">
              <a:buNone/>
            </a:pPr>
            <a:r>
              <a:rPr lang="en-US" sz="1600" b="1" dirty="0">
                <a:solidFill>
                  <a:schemeClr val="accent3"/>
                </a:solidFill>
              </a:rPr>
              <a:t>In scope</a:t>
            </a:r>
            <a:endParaRPr lang="en-US" sz="1600" dirty="0"/>
          </a:p>
        </p:txBody>
      </p:sp>
      <p:sp>
        <p:nvSpPr>
          <p:cNvPr id="8" name="In scope list"/>
          <p:cNvSpPr txBox="1"/>
          <p:nvPr/>
        </p:nvSpPr>
        <p:spPr>
          <a:xfrm>
            <a:off x="4800600" y="1645920"/>
            <a:ext cx="1874520" cy="28346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Login and registration, role-based access</a:t>
            </a:r>
            <a:endParaRPr lang="en-US" sz="1200" dirty="0"/>
          </a:p>
          <a:p>
            <a:pPr marL="177800" indent="-177800">
              <a:spcAft>
                <a:spcPts val="400"/>
              </a:spcAft>
              <a:buSzPct val="100000"/>
              <a:buChar char="•"/>
            </a:pPr>
            <a:r>
              <a:rPr lang="en-US" sz="1200" dirty="0">
                <a:solidFill>
                  <a:schemeClr val="tx1"/>
                </a:solidFill>
              </a:rPr>
              <a:t>Menu, offers, stock</a:t>
            </a:r>
            <a:endParaRPr lang="en-US" sz="1200" dirty="0"/>
          </a:p>
          <a:p>
            <a:pPr marL="177800" indent="-177800">
              <a:spcAft>
                <a:spcPts val="400"/>
              </a:spcAft>
              <a:buSzPct val="100000"/>
              <a:buChar char="•"/>
            </a:pPr>
            <a:r>
              <a:rPr lang="en-US" sz="1200" dirty="0">
                <a:solidFill>
                  <a:schemeClr val="tx1"/>
                </a:solidFill>
              </a:rPr>
              <a:t>Cart, pricing, coupons</a:t>
            </a:r>
            <a:endParaRPr lang="en-US" sz="1200" dirty="0"/>
          </a:p>
          <a:p>
            <a:pPr marL="177800" indent="-177800">
              <a:spcAft>
                <a:spcPts val="400"/>
              </a:spcAft>
              <a:buSzPct val="100000"/>
              <a:buChar char="•"/>
            </a:pPr>
            <a:r>
              <a:rPr lang="en-US" sz="1200" dirty="0">
                <a:solidFill>
                  <a:schemeClr val="tx1"/>
                </a:solidFill>
              </a:rPr>
              <a:t>Checkout with simulated payment</a:t>
            </a:r>
            <a:endParaRPr lang="en-US" sz="1200" dirty="0"/>
          </a:p>
          <a:p>
            <a:pPr marL="177800" indent="-177800">
              <a:spcAft>
                <a:spcPts val="400"/>
              </a:spcAft>
              <a:buSzPct val="100000"/>
              <a:buChar char="•"/>
            </a:pPr>
            <a:r>
              <a:rPr lang="en-US" sz="1200" dirty="0">
                <a:solidFill>
                  <a:schemeClr val="tx1"/>
                </a:solidFill>
              </a:rPr>
              <a:t>Merchant fulfilment, rider dispatch</a:t>
            </a:r>
            <a:endParaRPr lang="en-US" sz="1200" dirty="0"/>
          </a:p>
          <a:p>
            <a:pPr marL="177800" indent="-177800">
              <a:spcAft>
                <a:spcPts val="400"/>
              </a:spcAft>
              <a:buSzPct val="100000"/>
              <a:buChar char="•"/>
            </a:pPr>
            <a:r>
              <a:rPr lang="en-US" sz="1200" dirty="0">
                <a:solidFill>
                  <a:schemeClr val="tx1"/>
                </a:solidFill>
              </a:rPr>
              <a:t>Admin console and audit</a:t>
            </a:r>
            <a:endParaRPr lang="en-US" sz="1200" dirty="0"/>
          </a:p>
          <a:p>
            <a:pPr marL="177800" indent="-177800">
              <a:spcAft>
                <a:spcPts val="400"/>
              </a:spcAft>
              <a:buSzPct val="100000"/>
              <a:buChar char="•"/>
            </a:pPr>
            <a:r>
              <a:rPr lang="en-US" sz="1200" dirty="0">
                <a:solidFill>
                  <a:schemeClr val="tx1"/>
                </a:solidFill>
              </a:rPr>
              <a:t>CI/CD and a staging stack</a:t>
            </a:r>
            <a:endParaRPr lang="en-US" sz="1200" dirty="0"/>
          </a:p>
        </p:txBody>
      </p:sp>
      <p:sp>
        <p:nvSpPr>
          <p:cNvPr id="9" name="Out of scope card"/>
          <p:cNvSpPr/>
          <p:nvPr/>
        </p:nvSpPr>
        <p:spPr>
          <a:xfrm>
            <a:off x="6903720" y="1097280"/>
            <a:ext cx="1783080" cy="3474720"/>
          </a:xfrm>
          <a:prstGeom prst="roundRect">
            <a:avLst>
              <a:gd name="adj" fmla="val 4103"/>
            </a:avLst>
          </a:prstGeom>
          <a:solidFill>
            <a:schemeClr val="bg2"/>
          </a:solidFill>
          <a:ln w="12700">
            <a:solidFill>
              <a:schemeClr val="bg2"/>
            </a:solidFill>
            <a:prstDash val="solid"/>
          </a:ln>
        </p:spPr>
      </p:sp>
      <p:sp>
        <p:nvSpPr>
          <p:cNvPr id="10" name="Out of scope heading"/>
          <p:cNvSpPr txBox="1"/>
          <p:nvPr/>
        </p:nvSpPr>
        <p:spPr>
          <a:xfrm>
            <a:off x="7040880" y="1234440"/>
            <a:ext cx="1645920" cy="320040"/>
          </a:xfrm>
          <a:prstGeom prst="rect">
            <a:avLst/>
          </a:prstGeom>
          <a:noFill/>
          <a:ln/>
        </p:spPr>
        <p:txBody>
          <a:bodyPr wrap="square" lIns="0" tIns="0" rIns="0" bIns="0" rtlCol="0" anchor="t"/>
          <a:lstStyle/>
          <a:p>
            <a:pPr indent="0" marL="0">
              <a:buNone/>
            </a:pPr>
            <a:r>
              <a:rPr lang="en-US" sz="1600" b="1" dirty="0">
                <a:solidFill>
                  <a:schemeClr val="accent1"/>
                </a:solidFill>
              </a:rPr>
              <a:t>Out of scope</a:t>
            </a:r>
            <a:endParaRPr lang="en-US" sz="1600" dirty="0"/>
          </a:p>
        </p:txBody>
      </p:sp>
      <p:sp>
        <p:nvSpPr>
          <p:cNvPr id="11" name="Out of scope list"/>
          <p:cNvSpPr txBox="1"/>
          <p:nvPr/>
        </p:nvSpPr>
        <p:spPr>
          <a:xfrm>
            <a:off x="7040880" y="1645920"/>
            <a:ext cx="1600200" cy="28346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Real payment, settlement, refunds</a:t>
            </a:r>
            <a:endParaRPr lang="en-US" sz="1200" dirty="0"/>
          </a:p>
          <a:p>
            <a:pPr marL="177800" indent="-177800">
              <a:spcAft>
                <a:spcPts val="400"/>
              </a:spcAft>
              <a:buSzPct val="100000"/>
              <a:buChar char="•"/>
            </a:pPr>
            <a:r>
              <a:rPr lang="en-US" sz="1200" dirty="0">
                <a:solidFill>
                  <a:schemeClr val="tx1"/>
                </a:solidFill>
              </a:rPr>
              <a:t>Native mobile apps</a:t>
            </a:r>
            <a:endParaRPr lang="en-US" sz="1200" dirty="0"/>
          </a:p>
          <a:p>
            <a:pPr marL="177800" indent="-177800">
              <a:spcAft>
                <a:spcPts val="400"/>
              </a:spcAft>
              <a:buSzPct val="100000"/>
              <a:buChar char="•"/>
            </a:pPr>
            <a:r>
              <a:rPr lang="en-US" sz="1200" dirty="0">
                <a:solidFill>
                  <a:schemeClr val="tx1"/>
                </a:solidFill>
              </a:rPr>
              <a:t>Real-time GPS navigation</a:t>
            </a:r>
            <a:endParaRPr lang="en-US" sz="1200" dirty="0"/>
          </a:p>
          <a:p>
            <a:pPr marL="177800" indent="-177800">
              <a:spcAft>
                <a:spcPts val="400"/>
              </a:spcAft>
              <a:buSzPct val="100000"/>
              <a:buChar char="•"/>
            </a:pPr>
            <a:r>
              <a:rPr lang="en-US" sz="1200" dirty="0">
                <a:solidFill>
                  <a:schemeClr val="tx1"/>
                </a:solidFill>
              </a:rPr>
              <a:t>Recommendations</a:t>
            </a:r>
            <a:endParaRPr lang="en-US" sz="1200" dirty="0"/>
          </a:p>
          <a:p>
            <a:pPr marL="177800" indent="-177800">
              <a:spcAft>
                <a:spcPts val="400"/>
              </a:spcAft>
              <a:buSzPct val="100000"/>
              <a:buChar char="•"/>
            </a:pPr>
            <a:r>
              <a:rPr lang="en-US" sz="1200" dirty="0">
                <a:solidFill>
                  <a:schemeClr val="tx1"/>
                </a:solidFill>
              </a:rPr>
              <a:t>Multi-region deployment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Status against the proposal</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463040"/>
                <a:gridCol w="2651760"/>
                <a:gridCol w="3108960"/>
                <a:gridCol w="1005840"/>
              </a:tblGrid>
              <a:tr h="347472">
                <a:tc>
                  <a:txBody>
                    <a:bodyPr/>
                    <a:lstStyle/>
                    <a:p>
                      <a:pPr indent="0" marL="0">
                        <a:buNone/>
                      </a:pPr>
                      <a:r>
                        <a:rPr lang="en-US" sz="1300" b="1" dirty="0">
                          <a:solidFill>
                            <a:schemeClr val="bg1"/>
                          </a:solidFill>
                        </a:rPr>
                        <a:t>Area</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Proposal</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Delivered</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Status</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02920">
                <a:tc>
                  <a:txBody>
                    <a:bodyPr/>
                    <a:lstStyle/>
                    <a:p>
                      <a:pPr indent="0" marL="0">
                        <a:buNone/>
                      </a:pPr>
                      <a:r>
                        <a:rPr lang="en-US" sz="1200" b="1" dirty="0">
                          <a:solidFill>
                            <a:srgbClr val="000000"/>
                          </a:solidFill>
                        </a:rPr>
                        <a:t>Architecture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services behind a YARP gateway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modular API with feature modules; nginx at the edge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Changed</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Data and events</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Schema per service, Service Bus, outbox</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PostgreSQL database; modules call each other inside one transaction</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Changed</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Cloud and scaling</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Azure Container Apps, Bicep, scale rules, k6 evidence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Docker Compose staging; no scale-out measurements yet</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Not built</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Roles and flow</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roles plus a campus menu display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roles work end to end; no menu display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3"/>
                          </a:solidFill>
                        </a:rPr>
                        <a:t>Mostly done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CI/CD and security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Scans, per-service deploy, rollback</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Six CI gates, image scan, deploy, automatic rollback</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3"/>
                          </a:solidFill>
                        </a:rPr>
                        <a:t>Done, merge pending</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Quality evidence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Load, concurrency and replay tests</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287 backend tests on PostgreSQL, 19-step smoke; no load test yet</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Partly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4" name="Open items"/>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dirty="0">
                <a:solidFill>
                  <a:schemeClr val="tx2"/>
                </a:solidFill>
              </a:rPr>
              <a:t>Also open: the pull request with containers and CD awaits merge; about 64 backend messages are in Chinese; login has no rate limit.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Milestones and effort</a:t>
            </a:r>
            <a:endParaRPr lang="en-US" sz="3000" dirty="0"/>
          </a:p>
        </p:txBody>
      </p:sp>
      <p:sp>
        <p:nvSpPr>
          <p:cNvPr id="3" name="Sprint 1 marker"/>
          <p:cNvSpPr/>
          <p:nvPr/>
        </p:nvSpPr>
        <p:spPr>
          <a:xfrm>
            <a:off x="457200" y="1234440"/>
            <a:ext cx="502920" cy="502920"/>
          </a:xfrm>
          <a:prstGeom prst="ellipse">
            <a:avLst/>
          </a:prstGeom>
          <a:solidFill>
            <a:schemeClr val="accent4"/>
          </a:solidFill>
          <a:ln w="12700">
            <a:solidFill>
              <a:schemeClr val="accent4"/>
            </a:solidFill>
            <a:prstDash val="solid"/>
          </a:ln>
        </p:spPr>
      </p:sp>
      <p:sp>
        <p:nvSpPr>
          <p:cNvPr id="4" name="Sprint 1 number"/>
          <p:cNvSpPr txBox="1"/>
          <p:nvPr/>
        </p:nvSpPr>
        <p:spPr>
          <a:xfrm>
            <a:off x="457200" y="1234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print 1 link"/>
          <p:cNvSpPr/>
          <p:nvPr/>
        </p:nvSpPr>
        <p:spPr>
          <a:xfrm>
            <a:off x="708660" y="1737360"/>
            <a:ext cx="0" cy="365760"/>
          </a:xfrm>
          <a:prstGeom prst="line">
            <a:avLst/>
          </a:prstGeom>
          <a:noFill/>
          <a:ln w="25400">
            <a:solidFill>
              <a:schemeClr val="accent5"/>
            </a:solidFill>
            <a:prstDash val="solid"/>
          </a:ln>
        </p:spPr>
      </p:sp>
      <p:sp>
        <p:nvSpPr>
          <p:cNvPr id="6" name="Sprint 1 title"/>
          <p:cNvSpPr txBox="1"/>
          <p:nvPr/>
        </p:nvSpPr>
        <p:spPr>
          <a:xfrm>
            <a:off x="1143000" y="118872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1: Foundation</a:t>
            </a:r>
            <a:endParaRPr lang="en-US" sz="1500" dirty="0"/>
          </a:p>
        </p:txBody>
      </p:sp>
      <p:sp>
        <p:nvSpPr>
          <p:cNvPr id="7" name="Sprint 1 detail"/>
          <p:cNvSpPr txBox="1"/>
          <p:nvPr/>
        </p:nvSpPr>
        <p:spPr>
          <a:xfrm>
            <a:off x="1143000" y="1490472"/>
            <a:ext cx="3566160" cy="502920"/>
          </a:xfrm>
          <a:prstGeom prst="rect">
            <a:avLst/>
          </a:prstGeom>
          <a:noFill/>
          <a:ln/>
        </p:spPr>
        <p:txBody>
          <a:bodyPr wrap="square" lIns="0" tIns="0" rIns="0" bIns="0" rtlCol="0" anchor="t"/>
          <a:lstStyle/>
          <a:p>
            <a:pPr indent="0" marL="0">
              <a:buNone/>
            </a:pPr>
            <a:r>
              <a:rPr lang="en-US" sz="1200" dirty="0">
                <a:solidFill>
                  <a:schemeClr val="tx1"/>
                </a:solidFill>
              </a:rPr>
              <a:t>Repository, CI, merchant dishes and offers</a:t>
            </a:r>
            <a:endParaRPr lang="en-US" sz="1200" dirty="0"/>
          </a:p>
        </p:txBody>
      </p:sp>
      <p:sp>
        <p:nvSpPr>
          <p:cNvPr id="8" name="Sprint 2 marker"/>
          <p:cNvSpPr/>
          <p:nvPr/>
        </p:nvSpPr>
        <p:spPr>
          <a:xfrm>
            <a:off x="457200" y="2103120"/>
            <a:ext cx="502920" cy="502920"/>
          </a:xfrm>
          <a:prstGeom prst="ellipse">
            <a:avLst/>
          </a:prstGeom>
          <a:solidFill>
            <a:schemeClr val="accent3"/>
          </a:solidFill>
          <a:ln w="12700">
            <a:solidFill>
              <a:schemeClr val="accent3"/>
            </a:solidFill>
            <a:prstDash val="solid"/>
          </a:ln>
        </p:spPr>
      </p:sp>
      <p:sp>
        <p:nvSpPr>
          <p:cNvPr id="9" name="Sprint 2 number"/>
          <p:cNvSpPr txBox="1"/>
          <p:nvPr/>
        </p:nvSpPr>
        <p:spPr>
          <a:xfrm>
            <a:off x="457200" y="21031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print 2 link"/>
          <p:cNvSpPr/>
          <p:nvPr/>
        </p:nvSpPr>
        <p:spPr>
          <a:xfrm>
            <a:off x="708660" y="2606040"/>
            <a:ext cx="0" cy="365760"/>
          </a:xfrm>
          <a:prstGeom prst="line">
            <a:avLst/>
          </a:prstGeom>
          <a:noFill/>
          <a:ln w="25400">
            <a:solidFill>
              <a:schemeClr val="accent5"/>
            </a:solidFill>
            <a:prstDash val="solid"/>
          </a:ln>
        </p:spPr>
      </p:sp>
      <p:sp>
        <p:nvSpPr>
          <p:cNvPr id="11" name="Sprint 2 title"/>
          <p:cNvSpPr txBox="1"/>
          <p:nvPr/>
        </p:nvSpPr>
        <p:spPr>
          <a:xfrm>
            <a:off x="1143000" y="205740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2: Identity and cart</a:t>
            </a:r>
            <a:endParaRPr lang="en-US" sz="1500" dirty="0"/>
          </a:p>
        </p:txBody>
      </p:sp>
      <p:sp>
        <p:nvSpPr>
          <p:cNvPr id="12" name="Sprint 2 detail"/>
          <p:cNvSpPr txBox="1"/>
          <p:nvPr/>
        </p:nvSpPr>
        <p:spPr>
          <a:xfrm>
            <a:off x="1143000" y="2359152"/>
            <a:ext cx="3566160" cy="502920"/>
          </a:xfrm>
          <a:prstGeom prst="rect">
            <a:avLst/>
          </a:prstGeom>
          <a:noFill/>
          <a:ln/>
        </p:spPr>
        <p:txBody>
          <a:bodyPr wrap="square" lIns="0" tIns="0" rIns="0" bIns="0" rtlCol="0" anchor="t"/>
          <a:lstStyle/>
          <a:p>
            <a:pPr indent="0" marL="0">
              <a:buNone/>
            </a:pPr>
            <a:r>
              <a:rPr lang="en-US" sz="1200" dirty="0">
                <a:solidFill>
                  <a:schemeClr val="tx1"/>
                </a:solidFill>
              </a:rPr>
              <a:t>JWT login with roles, registration, cart service</a:t>
            </a:r>
            <a:endParaRPr lang="en-US" sz="1200" dirty="0"/>
          </a:p>
        </p:txBody>
      </p:sp>
      <p:sp>
        <p:nvSpPr>
          <p:cNvPr id="13" name="Sprint 3 marker"/>
          <p:cNvSpPr/>
          <p:nvPr/>
        </p:nvSpPr>
        <p:spPr>
          <a:xfrm>
            <a:off x="457200" y="2971800"/>
            <a:ext cx="502920" cy="502920"/>
          </a:xfrm>
          <a:prstGeom prst="ellipse">
            <a:avLst/>
          </a:prstGeom>
          <a:solidFill>
            <a:schemeClr val="accent2"/>
          </a:solidFill>
          <a:ln w="12700">
            <a:solidFill>
              <a:schemeClr val="accent2"/>
            </a:solidFill>
            <a:prstDash val="solid"/>
          </a:ln>
        </p:spPr>
      </p:sp>
      <p:sp>
        <p:nvSpPr>
          <p:cNvPr id="14" name="Sprint 3 number"/>
          <p:cNvSpPr txBox="1"/>
          <p:nvPr/>
        </p:nvSpPr>
        <p:spPr>
          <a:xfrm>
            <a:off x="457200" y="2971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print 3 link"/>
          <p:cNvSpPr/>
          <p:nvPr/>
        </p:nvSpPr>
        <p:spPr>
          <a:xfrm>
            <a:off x="708660" y="3474720"/>
            <a:ext cx="0" cy="365760"/>
          </a:xfrm>
          <a:prstGeom prst="line">
            <a:avLst/>
          </a:prstGeom>
          <a:noFill/>
          <a:ln w="25400">
            <a:solidFill>
              <a:schemeClr val="accent5"/>
            </a:solidFill>
            <a:prstDash val="solid"/>
          </a:ln>
        </p:spPr>
      </p:sp>
      <p:sp>
        <p:nvSpPr>
          <p:cNvPr id="16" name="Sprint 3 title"/>
          <p:cNvSpPr txBox="1"/>
          <p:nvPr/>
        </p:nvSpPr>
        <p:spPr>
          <a:xfrm>
            <a:off x="1143000" y="292608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3: Money</a:t>
            </a:r>
            <a:endParaRPr lang="en-US" sz="1500" dirty="0"/>
          </a:p>
        </p:txBody>
      </p:sp>
      <p:sp>
        <p:nvSpPr>
          <p:cNvPr id="17" name="Sprint 3 detail"/>
          <p:cNvSpPr txBox="1"/>
          <p:nvPr/>
        </p:nvSpPr>
        <p:spPr>
          <a:xfrm>
            <a:off x="1143000" y="3227832"/>
            <a:ext cx="3566160" cy="502920"/>
          </a:xfrm>
          <a:prstGeom prst="rect">
            <a:avLst/>
          </a:prstGeom>
          <a:noFill/>
          <a:ln/>
        </p:spPr>
        <p:txBody>
          <a:bodyPr wrap="square" lIns="0" tIns="0" rIns="0" bIns="0" rtlCol="0" anchor="t"/>
          <a:lstStyle/>
          <a:p>
            <a:pPr indent="0" marL="0">
              <a:buNone/>
            </a:pPr>
            <a:r>
              <a:rPr lang="en-US" sz="1200" dirty="0">
                <a:solidFill>
                  <a:schemeClr val="tx1"/>
                </a:solidFill>
              </a:rPr>
              <a:t>Server-side pricing, checkout and payment, inventory</a:t>
            </a:r>
            <a:endParaRPr lang="en-US" sz="1200" dirty="0"/>
          </a:p>
        </p:txBody>
      </p:sp>
      <p:sp>
        <p:nvSpPr>
          <p:cNvPr id="18" name="Sprint 4 marker"/>
          <p:cNvSpPr/>
          <p:nvPr/>
        </p:nvSpPr>
        <p:spPr>
          <a:xfrm>
            <a:off x="457200" y="3840480"/>
            <a:ext cx="502920" cy="502920"/>
          </a:xfrm>
          <a:prstGeom prst="ellipse">
            <a:avLst/>
          </a:prstGeom>
          <a:solidFill>
            <a:schemeClr val="accent1"/>
          </a:solidFill>
          <a:ln w="12700">
            <a:solidFill>
              <a:schemeClr val="accent1"/>
            </a:solidFill>
            <a:prstDash val="solid"/>
          </a:ln>
        </p:spPr>
      </p:sp>
      <p:sp>
        <p:nvSpPr>
          <p:cNvPr id="19" name="Sprint 4 number"/>
          <p:cNvSpPr txBox="1"/>
          <p:nvPr/>
        </p:nvSpPr>
        <p:spPr>
          <a:xfrm>
            <a:off x="457200" y="3840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print 4 title"/>
          <p:cNvSpPr txBox="1"/>
          <p:nvPr/>
        </p:nvSpPr>
        <p:spPr>
          <a:xfrm>
            <a:off x="1143000" y="379476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4: Operations</a:t>
            </a:r>
            <a:endParaRPr lang="en-US" sz="1500" dirty="0"/>
          </a:p>
        </p:txBody>
      </p:sp>
      <p:sp>
        <p:nvSpPr>
          <p:cNvPr id="21" name="Sprint 4 detail"/>
          <p:cNvSpPr txBox="1"/>
          <p:nvPr/>
        </p:nvSpPr>
        <p:spPr>
          <a:xfrm>
            <a:off x="1143000" y="4096512"/>
            <a:ext cx="3566160" cy="502920"/>
          </a:xfrm>
          <a:prstGeom prst="rect">
            <a:avLst/>
          </a:prstGeom>
          <a:noFill/>
          <a:ln/>
        </p:spPr>
        <p:txBody>
          <a:bodyPr wrap="square" lIns="0" tIns="0" rIns="0" bIns="0" rtlCol="0" anchor="t"/>
          <a:lstStyle/>
          <a:p>
            <a:pPr indent="0" marL="0">
              <a:buNone/>
            </a:pPr>
            <a:r>
              <a:rPr lang="en-US" sz="1200" dirty="0">
                <a:solidFill>
                  <a:schemeClr val="tx1"/>
                </a:solidFill>
              </a:rPr>
              <a:t>Admin console, coupon allocation, rider dispatch, containers and CD</a:t>
            </a:r>
            <a:endParaRPr lang="en-US" sz="1200" dirty="0"/>
          </a:p>
        </p:txBody>
      </p:sp>
      <p:sp>
        <p:nvSpPr>
          <p:cNvPr id="22" name="Chart title"/>
          <p:cNvSpPr txBox="1"/>
          <p:nvPr/>
        </p:nvSpPr>
        <p:spPr>
          <a:xfrm>
            <a:off x="4937760" y="1143000"/>
            <a:ext cx="3749040" cy="274320"/>
          </a:xfrm>
          <a:prstGeom prst="rect">
            <a:avLst/>
          </a:prstGeom>
          <a:noFill/>
          <a:ln/>
        </p:spPr>
        <p:txBody>
          <a:bodyPr wrap="square" lIns="0" tIns="0" rIns="0" bIns="0" rtlCol="0" anchor="t"/>
          <a:lstStyle/>
          <a:p>
            <a:pPr indent="0" marL="0">
              <a:buNone/>
            </a:pPr>
            <a:r>
              <a:rPr lang="en-US" sz="1300" b="1" dirty="0">
                <a:solidFill>
                  <a:schemeClr val="tx1"/>
                </a:solidFill>
              </a:rPr>
              <a:t>Commits on main by author</a:t>
            </a:r>
            <a:endParaRPr lang="en-US" sz="1300" dirty="0"/>
          </a:p>
        </p:txBody>
      </p:sp>
      <p:sp>
        <p:nvSpPr>
          <p:cNvPr id="23" name="Lil-Draky label"/>
          <p:cNvSpPr txBox="1"/>
          <p:nvPr/>
        </p:nvSpPr>
        <p:spPr>
          <a:xfrm>
            <a:off x="4937760" y="1554480"/>
            <a:ext cx="1234440" cy="365760"/>
          </a:xfrm>
          <a:prstGeom prst="rect">
            <a:avLst/>
          </a:prstGeom>
          <a:noFill/>
          <a:ln/>
        </p:spPr>
        <p:txBody>
          <a:bodyPr wrap="square" lIns="0" tIns="0" rIns="0" bIns="0" rtlCol="0" anchor="ctr"/>
          <a:lstStyle/>
          <a:p>
            <a:pPr indent="0" marL="0">
              <a:buNone/>
            </a:pPr>
            <a:r>
              <a:rPr lang="en-US" sz="1200" dirty="0">
                <a:solidFill>
                  <a:schemeClr val="tx1"/>
                </a:solidFill>
              </a:rPr>
              <a:t>Lil-Draky</a:t>
            </a:r>
            <a:endParaRPr lang="en-US" sz="1200" dirty="0"/>
          </a:p>
        </p:txBody>
      </p:sp>
      <p:sp>
        <p:nvSpPr>
          <p:cNvPr id="24" name="Lil-Draky bar"/>
          <p:cNvSpPr/>
          <p:nvPr/>
        </p:nvSpPr>
        <p:spPr>
          <a:xfrm>
            <a:off x="6217920" y="1554480"/>
            <a:ext cx="1892808" cy="365760"/>
          </a:xfrm>
          <a:prstGeom prst="roundRect">
            <a:avLst>
              <a:gd name="adj" fmla="val 10000"/>
            </a:avLst>
          </a:prstGeom>
          <a:solidFill>
            <a:schemeClr val="accent1"/>
          </a:solidFill>
          <a:ln w="12700">
            <a:solidFill>
              <a:schemeClr val="accent1"/>
            </a:solidFill>
            <a:prstDash val="solid"/>
          </a:ln>
        </p:spPr>
      </p:sp>
      <p:sp>
        <p:nvSpPr>
          <p:cNvPr id="25" name="Lil-Draky value"/>
          <p:cNvSpPr txBox="1"/>
          <p:nvPr/>
        </p:nvSpPr>
        <p:spPr>
          <a:xfrm>
            <a:off x="8183880" y="155448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18</a:t>
            </a:r>
            <a:endParaRPr lang="en-US" sz="1200" dirty="0"/>
          </a:p>
        </p:txBody>
      </p:sp>
      <p:sp>
        <p:nvSpPr>
          <p:cNvPr id="26" name="Hao Mingyang label"/>
          <p:cNvSpPr txBox="1"/>
          <p:nvPr/>
        </p:nvSpPr>
        <p:spPr>
          <a:xfrm>
            <a:off x="4937760" y="2057400"/>
            <a:ext cx="1234440" cy="365760"/>
          </a:xfrm>
          <a:prstGeom prst="rect">
            <a:avLst/>
          </a:prstGeom>
          <a:noFill/>
          <a:ln/>
        </p:spPr>
        <p:txBody>
          <a:bodyPr wrap="square" lIns="0" tIns="0" rIns="0" bIns="0" rtlCol="0" anchor="ctr"/>
          <a:lstStyle/>
          <a:p>
            <a:pPr indent="0" marL="0">
              <a:buNone/>
            </a:pPr>
            <a:r>
              <a:rPr lang="en-US" sz="1200" dirty="0">
                <a:solidFill>
                  <a:schemeClr val="tx1"/>
                </a:solidFill>
              </a:rPr>
              <a:t>Hao Mingyang</a:t>
            </a:r>
            <a:endParaRPr lang="en-US" sz="1200" dirty="0"/>
          </a:p>
        </p:txBody>
      </p:sp>
      <p:sp>
        <p:nvSpPr>
          <p:cNvPr id="27" name="Hao Mingyang bar"/>
          <p:cNvSpPr/>
          <p:nvPr/>
        </p:nvSpPr>
        <p:spPr>
          <a:xfrm>
            <a:off x="6217920" y="2057400"/>
            <a:ext cx="1787652" cy="365760"/>
          </a:xfrm>
          <a:prstGeom prst="roundRect">
            <a:avLst>
              <a:gd name="adj" fmla="val 10000"/>
            </a:avLst>
          </a:prstGeom>
          <a:solidFill>
            <a:schemeClr val="accent1"/>
          </a:solidFill>
          <a:ln w="12700">
            <a:solidFill>
              <a:schemeClr val="accent1"/>
            </a:solidFill>
            <a:prstDash val="solid"/>
          </a:ln>
        </p:spPr>
      </p:sp>
      <p:sp>
        <p:nvSpPr>
          <p:cNvPr id="28" name="Hao Mingyang value"/>
          <p:cNvSpPr txBox="1"/>
          <p:nvPr/>
        </p:nvSpPr>
        <p:spPr>
          <a:xfrm>
            <a:off x="8078724" y="205740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17</a:t>
            </a:r>
            <a:endParaRPr lang="en-US" sz="1200" dirty="0"/>
          </a:p>
        </p:txBody>
      </p:sp>
      <p:sp>
        <p:nvSpPr>
          <p:cNvPr id="29" name="Zhao Haotian label"/>
          <p:cNvSpPr txBox="1"/>
          <p:nvPr/>
        </p:nvSpPr>
        <p:spPr>
          <a:xfrm>
            <a:off x="4937760" y="2560320"/>
            <a:ext cx="1234440" cy="365760"/>
          </a:xfrm>
          <a:prstGeom prst="rect">
            <a:avLst/>
          </a:prstGeom>
          <a:noFill/>
          <a:ln/>
        </p:spPr>
        <p:txBody>
          <a:bodyPr wrap="square" lIns="0" tIns="0" rIns="0" bIns="0" rtlCol="0" anchor="ctr"/>
          <a:lstStyle/>
          <a:p>
            <a:pPr indent="0" marL="0">
              <a:buNone/>
            </a:pPr>
            <a:r>
              <a:rPr lang="en-US" sz="1200" dirty="0">
                <a:solidFill>
                  <a:schemeClr val="tx1"/>
                </a:solidFill>
              </a:rPr>
              <a:t>Zhao Haotian</a:t>
            </a:r>
            <a:endParaRPr lang="en-US" sz="1200" dirty="0"/>
          </a:p>
        </p:txBody>
      </p:sp>
      <p:sp>
        <p:nvSpPr>
          <p:cNvPr id="30" name="Zhao Haotian bar"/>
          <p:cNvSpPr/>
          <p:nvPr/>
        </p:nvSpPr>
        <p:spPr>
          <a:xfrm>
            <a:off x="6217920" y="2560320"/>
            <a:ext cx="1682496" cy="365760"/>
          </a:xfrm>
          <a:prstGeom prst="roundRect">
            <a:avLst>
              <a:gd name="adj" fmla="val 10000"/>
            </a:avLst>
          </a:prstGeom>
          <a:solidFill>
            <a:schemeClr val="accent1"/>
          </a:solidFill>
          <a:ln w="12700">
            <a:solidFill>
              <a:schemeClr val="accent1"/>
            </a:solidFill>
            <a:prstDash val="solid"/>
          </a:ln>
        </p:spPr>
      </p:sp>
      <p:sp>
        <p:nvSpPr>
          <p:cNvPr id="31" name="Zhao Haotian value"/>
          <p:cNvSpPr txBox="1"/>
          <p:nvPr/>
        </p:nvSpPr>
        <p:spPr>
          <a:xfrm>
            <a:off x="7973568" y="256032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16</a:t>
            </a:r>
            <a:endParaRPr lang="en-US" sz="1200" dirty="0"/>
          </a:p>
        </p:txBody>
      </p:sp>
      <p:sp>
        <p:nvSpPr>
          <p:cNvPr id="32" name="Wang Qinyang label"/>
          <p:cNvSpPr txBox="1"/>
          <p:nvPr/>
        </p:nvSpPr>
        <p:spPr>
          <a:xfrm>
            <a:off x="4937760" y="3063240"/>
            <a:ext cx="1234440" cy="365760"/>
          </a:xfrm>
          <a:prstGeom prst="rect">
            <a:avLst/>
          </a:prstGeom>
          <a:noFill/>
          <a:ln/>
        </p:spPr>
        <p:txBody>
          <a:bodyPr wrap="square" lIns="0" tIns="0" rIns="0" bIns="0" rtlCol="0" anchor="ctr"/>
          <a:lstStyle/>
          <a:p>
            <a:pPr indent="0" marL="0">
              <a:buNone/>
            </a:pPr>
            <a:r>
              <a:rPr lang="en-US" sz="1200" dirty="0">
                <a:solidFill>
                  <a:schemeClr val="tx1"/>
                </a:solidFill>
              </a:rPr>
              <a:t>Wang Qinyang</a:t>
            </a:r>
            <a:endParaRPr lang="en-US" sz="1200" dirty="0"/>
          </a:p>
        </p:txBody>
      </p:sp>
      <p:sp>
        <p:nvSpPr>
          <p:cNvPr id="33" name="Wang Qinyang bar"/>
          <p:cNvSpPr/>
          <p:nvPr/>
        </p:nvSpPr>
        <p:spPr>
          <a:xfrm>
            <a:off x="6217920" y="3063240"/>
            <a:ext cx="1156716" cy="365760"/>
          </a:xfrm>
          <a:prstGeom prst="roundRect">
            <a:avLst>
              <a:gd name="adj" fmla="val 10000"/>
            </a:avLst>
          </a:prstGeom>
          <a:solidFill>
            <a:schemeClr val="accent1"/>
          </a:solidFill>
          <a:ln w="12700">
            <a:solidFill>
              <a:schemeClr val="accent1"/>
            </a:solidFill>
            <a:prstDash val="solid"/>
          </a:ln>
        </p:spPr>
      </p:sp>
      <p:sp>
        <p:nvSpPr>
          <p:cNvPr id="34" name="Wang Qinyang value"/>
          <p:cNvSpPr txBox="1"/>
          <p:nvPr/>
        </p:nvSpPr>
        <p:spPr>
          <a:xfrm>
            <a:off x="7447788" y="306324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11</a:t>
            </a:r>
            <a:endParaRPr lang="en-US" sz="1200" dirty="0"/>
          </a:p>
        </p:txBody>
      </p:sp>
      <p:sp>
        <p:nvSpPr>
          <p:cNvPr id="35" name="Liu Tongyu label"/>
          <p:cNvSpPr txBox="1"/>
          <p:nvPr/>
        </p:nvSpPr>
        <p:spPr>
          <a:xfrm>
            <a:off x="4937760" y="3566160"/>
            <a:ext cx="1234440" cy="365760"/>
          </a:xfrm>
          <a:prstGeom prst="rect">
            <a:avLst/>
          </a:prstGeom>
          <a:noFill/>
          <a:ln/>
        </p:spPr>
        <p:txBody>
          <a:bodyPr wrap="square" lIns="0" tIns="0" rIns="0" bIns="0" rtlCol="0" anchor="ctr"/>
          <a:lstStyle/>
          <a:p>
            <a:pPr indent="0" marL="0">
              <a:buNone/>
            </a:pPr>
            <a:r>
              <a:rPr lang="en-US" sz="1200" dirty="0">
                <a:solidFill>
                  <a:schemeClr val="tx1"/>
                </a:solidFill>
              </a:rPr>
              <a:t>Liu Tongyu</a:t>
            </a:r>
            <a:endParaRPr lang="en-US" sz="1200" dirty="0"/>
          </a:p>
        </p:txBody>
      </p:sp>
      <p:sp>
        <p:nvSpPr>
          <p:cNvPr id="36" name="Liu Tongyu bar"/>
          <p:cNvSpPr/>
          <p:nvPr/>
        </p:nvSpPr>
        <p:spPr>
          <a:xfrm>
            <a:off x="6217920" y="3566160"/>
            <a:ext cx="420624" cy="365760"/>
          </a:xfrm>
          <a:prstGeom prst="roundRect">
            <a:avLst>
              <a:gd name="adj" fmla="val 10000"/>
            </a:avLst>
          </a:prstGeom>
          <a:solidFill>
            <a:schemeClr val="accent1"/>
          </a:solidFill>
          <a:ln w="12700">
            <a:solidFill>
              <a:schemeClr val="accent1"/>
            </a:solidFill>
            <a:prstDash val="solid"/>
          </a:ln>
        </p:spPr>
      </p:sp>
      <p:sp>
        <p:nvSpPr>
          <p:cNvPr id="37" name="Liu Tongyu value"/>
          <p:cNvSpPr txBox="1"/>
          <p:nvPr/>
        </p:nvSpPr>
        <p:spPr>
          <a:xfrm>
            <a:off x="6711696" y="356616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4</a:t>
            </a:r>
            <a:endParaRPr lang="en-US" sz="1200" dirty="0"/>
          </a:p>
        </p:txBody>
      </p:sp>
      <p:sp>
        <p:nvSpPr>
          <p:cNvPr id="38" name="Chart caption"/>
          <p:cNvSpPr txBox="1"/>
          <p:nvPr/>
        </p:nvSpPr>
        <p:spPr>
          <a:xfrm>
            <a:off x="4937760" y="4160520"/>
            <a:ext cx="3749040" cy="365760"/>
          </a:xfrm>
          <a:prstGeom prst="rect">
            <a:avLst/>
          </a:prstGeom>
          <a:noFill/>
          <a:ln/>
        </p:spPr>
        <p:txBody>
          <a:bodyPr wrap="square" lIns="0" tIns="0" rIns="0" bIns="0" rtlCol="0" anchor="t"/>
          <a:lstStyle/>
          <a:p>
            <a:pPr indent="0" marL="0">
              <a:buNone/>
            </a:pPr>
            <a:r>
              <a:rPr lang="en-US" sz="1100" dirty="0">
                <a:solidFill>
                  <a:schemeClr val="accent5"/>
                </a:solidFill>
              </a:rPr>
              <a:t>Commit counts are a rough proxy, not a measure of effort.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Five decisions that shaped the design</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3657600"/>
                <a:gridCol w="2286000"/>
              </a:tblGrid>
              <a:tr h="365760">
                <a:tc>
                  <a:txBody>
                    <a:bodyPr/>
                    <a:lstStyle/>
                    <a:p>
                      <a:pPr indent="0" marL="0">
                        <a:buNone/>
                      </a:pPr>
                      <a:r>
                        <a:rPr lang="en-US" sz="1300" b="1" dirty="0">
                          <a:solidFill>
                            <a:schemeClr val="bg1"/>
                          </a:solidFill>
                        </a:rPr>
                        <a:t>Decision</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Why</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Trade-off</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640080">
                <a:tc>
                  <a:txBody>
                    <a:bodyPr/>
                    <a:lstStyle/>
                    <a:p>
                      <a:pPr indent="0" marL="0">
                        <a:buNone/>
                      </a:pPr>
                      <a:r>
                        <a:rPr lang="en-US" sz="1200" b="1" dirty="0">
                          <a:solidFill>
                            <a:srgbClr val="000000"/>
                          </a:solidFill>
                        </a:rPr>
                        <a:t>Modular monolith, one folder per feature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Five-person team; checkout must change cart, stock, coupons and order in one transaction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Scales out as one unit; modules can be split later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The server is the authority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Prices, totals and identity come from the database and the JWT, never from the client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Extra work per request: cart read plus quote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One login, role-based access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endpoint and token for all four roles; every controller checks the role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No server-side session to store or scale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PostgreSQL as the last line of defence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Unique and CHECK constraints stop the races that code review misses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Violations must be mapped to clean API errors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Interfaces where change is expected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Payment gateway, discount strategies and menu item factory can be swapped or extended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 little more indirection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Logical architecture</a:t>
            </a:r>
            <a:endParaRPr lang="en-US" sz="3000" dirty="0"/>
          </a:p>
        </p:txBody>
      </p:sp>
      <p:sp>
        <p:nvSpPr>
          <p:cNvPr id="3" name="Clients card"/>
          <p:cNvSpPr/>
          <p:nvPr/>
        </p:nvSpPr>
        <p:spPr>
          <a:xfrm>
            <a:off x="365760" y="1188720"/>
            <a:ext cx="1554480" cy="3108960"/>
          </a:xfrm>
          <a:prstGeom prst="roundRect">
            <a:avLst>
              <a:gd name="adj" fmla="val 4706"/>
            </a:avLst>
          </a:prstGeom>
          <a:solidFill>
            <a:schemeClr val="bg2"/>
          </a:solidFill>
          <a:ln w="12700">
            <a:solidFill>
              <a:schemeClr val="bg2"/>
            </a:solidFill>
            <a:prstDash val="solid"/>
          </a:ln>
        </p:spPr>
      </p:sp>
      <p:sp>
        <p:nvSpPr>
          <p:cNvPr id="4" name="Clients heading"/>
          <p:cNvSpPr txBox="1"/>
          <p:nvPr/>
        </p:nvSpPr>
        <p:spPr>
          <a:xfrm>
            <a:off x="457200" y="1280160"/>
            <a:ext cx="1371600" cy="457200"/>
          </a:xfrm>
          <a:prstGeom prst="rect">
            <a:avLst/>
          </a:prstGeom>
          <a:noFill/>
          <a:ln/>
        </p:spPr>
        <p:txBody>
          <a:bodyPr wrap="square" lIns="0" tIns="0" rIns="0" bIns="0" rtlCol="0" anchor="t"/>
          <a:lstStyle/>
          <a:p>
            <a:pPr algn="ctr" indent="0" marL="0">
              <a:buNone/>
            </a:pPr>
            <a:r>
              <a:rPr lang="en-US" sz="1200" b="1" dirty="0">
                <a:solidFill>
                  <a:schemeClr val="tx1"/>
                </a:solidFill>
              </a:rPr>
              <a:t>Vue 3 single-page app</a:t>
            </a:r>
            <a:endParaRPr lang="en-US" sz="1200" dirty="0"/>
          </a:p>
        </p:txBody>
      </p:sp>
      <p:sp>
        <p:nvSpPr>
          <p:cNvPr id="5" name="Customer portal"/>
          <p:cNvSpPr txBox="1"/>
          <p:nvPr/>
        </p:nvSpPr>
        <p:spPr>
          <a:xfrm>
            <a:off x="502920" y="1828800"/>
            <a:ext cx="1280160" cy="411480"/>
          </a:xfrm>
          <a:prstGeom prst="roundRect">
            <a:avLst>
              <a:gd name="adj" fmla="val 13333"/>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Customer</a:t>
            </a:r>
            <a:endParaRPr lang="en-US" sz="1200" dirty="0"/>
          </a:p>
        </p:txBody>
      </p:sp>
      <p:sp>
        <p:nvSpPr>
          <p:cNvPr id="6" name="Merchant portal"/>
          <p:cNvSpPr txBox="1"/>
          <p:nvPr/>
        </p:nvSpPr>
        <p:spPr>
          <a:xfrm>
            <a:off x="502920" y="2377440"/>
            <a:ext cx="1280160" cy="411480"/>
          </a:xfrm>
          <a:prstGeom prst="roundRect">
            <a:avLst>
              <a:gd name="adj" fmla="val 13333"/>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Merchant</a:t>
            </a:r>
            <a:endParaRPr lang="en-US" sz="1200" dirty="0"/>
          </a:p>
        </p:txBody>
      </p:sp>
      <p:sp>
        <p:nvSpPr>
          <p:cNvPr id="7" name="Rider portal"/>
          <p:cNvSpPr txBox="1"/>
          <p:nvPr/>
        </p:nvSpPr>
        <p:spPr>
          <a:xfrm>
            <a:off x="502920" y="2926080"/>
            <a:ext cx="1280160" cy="411480"/>
          </a:xfrm>
          <a:prstGeom prst="roundRect">
            <a:avLst>
              <a:gd name="adj" fmla="val 13333"/>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Rider</a:t>
            </a:r>
            <a:endParaRPr lang="en-US" sz="1200" dirty="0"/>
          </a:p>
        </p:txBody>
      </p:sp>
      <p:sp>
        <p:nvSpPr>
          <p:cNvPr id="8" name="Admin portal"/>
          <p:cNvSpPr txBox="1"/>
          <p:nvPr/>
        </p:nvSpPr>
        <p:spPr>
          <a:xfrm>
            <a:off x="502920" y="3474720"/>
            <a:ext cx="1280160" cy="411480"/>
          </a:xfrm>
          <a:prstGeom prst="roundRect">
            <a:avLst>
              <a:gd name="adj" fmla="val 13333"/>
            </a:avLst>
          </a:prstGeom>
          <a:solidFill>
            <a:schemeClr val="accent6"/>
          </a:solidFill>
          <a:ln>
            <a:solidFill>
              <a:schemeClr val="accent6"/>
            </a:solidFill>
          </a:ln>
        </p:spPr>
        <p:txBody>
          <a:bodyPr wrap="square" lIns="508" tIns="508" rIns="508" bIns="508" rtlCol="0" anchor="ctr"/>
          <a:lstStyle/>
          <a:p>
            <a:pPr algn="ctr" indent="0" marL="0">
              <a:buNone/>
            </a:pPr>
            <a:r>
              <a:rPr lang="en-US" sz="1200" b="1" dirty="0">
                <a:solidFill>
                  <a:schemeClr val="bg1"/>
                </a:solidFill>
              </a:rPr>
              <a:t>Admin</a:t>
            </a:r>
            <a:endParaRPr lang="en-US" sz="1200" dirty="0"/>
          </a:p>
        </p:txBody>
      </p:sp>
      <p:sp>
        <p:nvSpPr>
          <p:cNvPr id="9" name="API container"/>
          <p:cNvSpPr/>
          <p:nvPr/>
        </p:nvSpPr>
        <p:spPr>
          <a:xfrm>
            <a:off x="2606040" y="1188720"/>
            <a:ext cx="4114800" cy="3108960"/>
          </a:xfrm>
          <a:prstGeom prst="roundRect">
            <a:avLst>
              <a:gd name="adj" fmla="val 2353"/>
            </a:avLst>
          </a:prstGeom>
          <a:solidFill>
            <a:schemeClr val="bg2"/>
          </a:solidFill>
          <a:ln w="12700">
            <a:solidFill>
              <a:schemeClr val="bg2"/>
            </a:solidFill>
            <a:prstDash val="solid"/>
          </a:ln>
        </p:spPr>
      </p:sp>
      <p:sp>
        <p:nvSpPr>
          <p:cNvPr id="10" name="API heading"/>
          <p:cNvSpPr txBox="1"/>
          <p:nvPr/>
        </p:nvSpPr>
        <p:spPr>
          <a:xfrm>
            <a:off x="2743200" y="1261872"/>
            <a:ext cx="3840480" cy="274320"/>
          </a:xfrm>
          <a:prstGeom prst="rect">
            <a:avLst/>
          </a:prstGeom>
          <a:noFill/>
          <a:ln/>
        </p:spPr>
        <p:txBody>
          <a:bodyPr wrap="square" lIns="0" tIns="0" rIns="0" bIns="0" rtlCol="0" anchor="t"/>
          <a:lstStyle/>
          <a:p>
            <a:pPr indent="0" marL="0">
              <a:buNone/>
            </a:pPr>
            <a:r>
              <a:rPr lang="en-US" sz="1300" b="1" dirty="0">
                <a:solidFill>
                  <a:schemeClr val="tx1"/>
                </a:solidFill>
              </a:rPr>
              <a:t>ASP.NET Core 8 API (one deployable)</a:t>
            </a:r>
            <a:endParaRPr lang="en-US" sz="1300" dirty="0"/>
          </a:p>
        </p:txBody>
      </p:sp>
      <p:sp>
        <p:nvSpPr>
          <p:cNvPr id="11" name="Cross-cutting"/>
          <p:cNvSpPr txBox="1"/>
          <p:nvPr/>
        </p:nvSpPr>
        <p:spPr>
          <a:xfrm>
            <a:off x="2743200" y="1600200"/>
            <a:ext cx="3840480" cy="365760"/>
          </a:xfrm>
          <a:prstGeom prst="roundRect">
            <a:avLst>
              <a:gd name="adj" fmla="val 15000"/>
            </a:avLst>
          </a:prstGeom>
          <a:solidFill>
            <a:schemeClr val="tx2"/>
          </a:solidFill>
          <a:ln>
            <a:solidFill>
              <a:schemeClr val="tx2"/>
            </a:solidFill>
          </a:ln>
        </p:spPr>
        <p:txBody>
          <a:bodyPr wrap="square" lIns="508" tIns="508" rIns="508" bIns="508" rtlCol="0" anchor="ctr"/>
          <a:lstStyle/>
          <a:p>
            <a:pPr algn="ctr" indent="0" marL="0">
              <a:buNone/>
            </a:pPr>
            <a:r>
              <a:rPr lang="en-US" sz="1100" dirty="0">
                <a:solidFill>
                  <a:schemeClr val="bg1"/>
                </a:solidFill>
              </a:rPr>
              <a:t>JWT auth · role checks · ApiResult · exception filter · audit</a:t>
            </a:r>
            <a:endParaRPr lang="en-US" sz="1100" dirty="0"/>
          </a:p>
        </p:txBody>
      </p:sp>
      <p:sp>
        <p:nvSpPr>
          <p:cNvPr id="12" name="Auth module"/>
          <p:cNvSpPr txBox="1"/>
          <p:nvPr/>
        </p:nvSpPr>
        <p:spPr>
          <a:xfrm>
            <a:off x="2743200" y="2148840"/>
            <a:ext cx="1216152" cy="502920"/>
          </a:xfrm>
          <a:prstGeom prst="roundRect">
            <a:avLst>
              <a:gd name="adj" fmla="val 10909"/>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Auth</a:t>
            </a:r>
            <a:endParaRPr lang="en-US" sz="1200" dirty="0"/>
          </a:p>
        </p:txBody>
      </p:sp>
      <p:sp>
        <p:nvSpPr>
          <p:cNvPr id="13" name="Catalog module"/>
          <p:cNvSpPr txBox="1"/>
          <p:nvPr/>
        </p:nvSpPr>
        <p:spPr>
          <a:xfrm>
            <a:off x="4050792" y="2148840"/>
            <a:ext cx="1216152" cy="502920"/>
          </a:xfrm>
          <a:prstGeom prst="roundRect">
            <a:avLst>
              <a:gd name="adj" fmla="val 10909"/>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Catalog</a:t>
            </a:r>
            <a:endParaRPr lang="en-US" sz="1200" dirty="0"/>
          </a:p>
        </p:txBody>
      </p:sp>
      <p:sp>
        <p:nvSpPr>
          <p:cNvPr id="14" name="Cart module"/>
          <p:cNvSpPr txBox="1"/>
          <p:nvPr/>
        </p:nvSpPr>
        <p:spPr>
          <a:xfrm>
            <a:off x="5358384" y="214884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Cart</a:t>
            </a:r>
            <a:endParaRPr lang="en-US" sz="1200" dirty="0"/>
          </a:p>
        </p:txBody>
      </p:sp>
      <p:sp>
        <p:nvSpPr>
          <p:cNvPr id="15" name="Pricing module"/>
          <p:cNvSpPr txBox="1"/>
          <p:nvPr/>
        </p:nvSpPr>
        <p:spPr>
          <a:xfrm>
            <a:off x="2743200" y="278892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Pricing</a:t>
            </a:r>
            <a:endParaRPr lang="en-US" sz="1200" dirty="0"/>
          </a:p>
        </p:txBody>
      </p:sp>
      <p:sp>
        <p:nvSpPr>
          <p:cNvPr id="16" name="Checkout module"/>
          <p:cNvSpPr txBox="1"/>
          <p:nvPr/>
        </p:nvSpPr>
        <p:spPr>
          <a:xfrm>
            <a:off x="4050792" y="2788920"/>
            <a:ext cx="1216152" cy="502920"/>
          </a:xfrm>
          <a:prstGeom prst="roundRect">
            <a:avLst>
              <a:gd name="adj" fmla="val 10909"/>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Checkout</a:t>
            </a:r>
            <a:endParaRPr lang="en-US" sz="1200" dirty="0"/>
          </a:p>
        </p:txBody>
      </p:sp>
      <p:sp>
        <p:nvSpPr>
          <p:cNvPr id="17" name="Inventory module"/>
          <p:cNvSpPr txBox="1"/>
          <p:nvPr/>
        </p:nvSpPr>
        <p:spPr>
          <a:xfrm>
            <a:off x="5358384" y="278892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Inventory</a:t>
            </a:r>
            <a:endParaRPr lang="en-US" sz="1200" dirty="0"/>
          </a:p>
        </p:txBody>
      </p:sp>
      <p:sp>
        <p:nvSpPr>
          <p:cNvPr id="18" name="Orders module"/>
          <p:cNvSpPr txBox="1"/>
          <p:nvPr/>
        </p:nvSpPr>
        <p:spPr>
          <a:xfrm>
            <a:off x="2743200" y="3429000"/>
            <a:ext cx="1216152" cy="502920"/>
          </a:xfrm>
          <a:prstGeom prst="roundRect">
            <a:avLst>
              <a:gd name="adj" fmla="val 10909"/>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Orders</a:t>
            </a:r>
            <a:endParaRPr lang="en-US" sz="1200" dirty="0"/>
          </a:p>
        </p:txBody>
      </p:sp>
      <p:sp>
        <p:nvSpPr>
          <p:cNvPr id="19" name="Rider dispatch module"/>
          <p:cNvSpPr txBox="1"/>
          <p:nvPr/>
        </p:nvSpPr>
        <p:spPr>
          <a:xfrm>
            <a:off x="4050792" y="3429000"/>
            <a:ext cx="1216152" cy="502920"/>
          </a:xfrm>
          <a:prstGeom prst="roundRect">
            <a:avLst>
              <a:gd name="adj" fmla="val 10909"/>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Rider dispatch</a:t>
            </a:r>
            <a:endParaRPr lang="en-US" sz="1200" dirty="0"/>
          </a:p>
        </p:txBody>
      </p:sp>
      <p:sp>
        <p:nvSpPr>
          <p:cNvPr id="20" name="Admin + audit module"/>
          <p:cNvSpPr txBox="1"/>
          <p:nvPr/>
        </p:nvSpPr>
        <p:spPr>
          <a:xfrm>
            <a:off x="5358384" y="3429000"/>
            <a:ext cx="1216152" cy="502920"/>
          </a:xfrm>
          <a:prstGeom prst="roundRect">
            <a:avLst>
              <a:gd name="adj" fmla="val 10909"/>
            </a:avLst>
          </a:prstGeom>
          <a:solidFill>
            <a:schemeClr val="accent6"/>
          </a:solidFill>
          <a:ln>
            <a:solidFill>
              <a:schemeClr val="accent6"/>
            </a:solidFill>
          </a:ln>
        </p:spPr>
        <p:txBody>
          <a:bodyPr wrap="square" lIns="508" tIns="508" rIns="508" bIns="508" rtlCol="0" anchor="ctr"/>
          <a:lstStyle/>
          <a:p>
            <a:pPr algn="ctr" indent="0" marL="0">
              <a:buNone/>
            </a:pPr>
            <a:r>
              <a:rPr lang="en-US" sz="1200" b="1" dirty="0">
                <a:solidFill>
                  <a:schemeClr val="bg1"/>
                </a:solidFill>
              </a:rPr>
              <a:t>Admin + audit</a:t>
            </a:r>
            <a:endParaRPr lang="en-US" sz="1200" dirty="0"/>
          </a:p>
        </p:txBody>
      </p:sp>
      <p:sp>
        <p:nvSpPr>
          <p:cNvPr id="21" name="Data access note"/>
          <p:cNvSpPr txBox="1"/>
          <p:nvPr/>
        </p:nvSpPr>
        <p:spPr>
          <a:xfrm>
            <a:off x="2743200" y="4023360"/>
            <a:ext cx="3840480" cy="228600"/>
          </a:xfrm>
          <a:prstGeom prst="rect">
            <a:avLst/>
          </a:prstGeom>
          <a:noFill/>
          <a:ln/>
        </p:spPr>
        <p:txBody>
          <a:bodyPr wrap="square" lIns="0" tIns="0" rIns="0" bIns="0" rtlCol="0" anchor="t"/>
          <a:lstStyle/>
          <a:p>
            <a:pPr algn="ctr" indent="0" marL="0">
              <a:buNone/>
            </a:pPr>
            <a:r>
              <a:rPr lang="en-US" sz="1100" dirty="0">
                <a:solidFill>
                  <a:schemeClr val="tx2"/>
                </a:solidFill>
              </a:rPr>
              <a:t>EF Core: one DbContext, migrations at start-up</a:t>
            </a:r>
            <a:endParaRPr lang="en-US" sz="1100" dirty="0"/>
          </a:p>
        </p:txBody>
      </p:sp>
      <p:sp>
        <p:nvSpPr>
          <p:cNvPr id="22" name="Database"/>
          <p:cNvSpPr/>
          <p:nvPr/>
        </p:nvSpPr>
        <p:spPr>
          <a:xfrm>
            <a:off x="7315200" y="2743200"/>
            <a:ext cx="1371600" cy="1463040"/>
          </a:xfrm>
          <a:prstGeom prst="can">
            <a:avLst/>
          </a:prstGeom>
          <a:solidFill>
            <a:schemeClr val="tx1"/>
          </a:solidFill>
          <a:ln w="12700">
            <a:solidFill>
              <a:schemeClr val="tx1"/>
            </a:solidFill>
            <a:prstDash val="solid"/>
          </a:ln>
        </p:spPr>
      </p:sp>
      <p:sp>
        <p:nvSpPr>
          <p:cNvPr id="23" name="Database label"/>
          <p:cNvSpPr txBox="1"/>
          <p:nvPr/>
        </p:nvSpPr>
        <p:spPr>
          <a:xfrm>
            <a:off x="7315200" y="324612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PostgreSQL 16</a:t>
            </a:r>
            <a:endParaRPr lang="en-US" sz="1200" dirty="0"/>
          </a:p>
        </p:txBody>
      </p:sp>
      <p:sp>
        <p:nvSpPr>
          <p:cNvPr id="24" name="Gateway card"/>
          <p:cNvSpPr/>
          <p:nvPr/>
        </p:nvSpPr>
        <p:spPr>
          <a:xfrm>
            <a:off x="7315200" y="1188720"/>
            <a:ext cx="1371600" cy="1097280"/>
          </a:xfrm>
          <a:prstGeom prst="roundRect">
            <a:avLst>
              <a:gd name="adj" fmla="val 6667"/>
            </a:avLst>
          </a:prstGeom>
          <a:solidFill>
            <a:schemeClr val="bg2"/>
          </a:solidFill>
          <a:ln w="12700">
            <a:solidFill>
              <a:schemeClr val="bg2"/>
            </a:solidFill>
            <a:prstDash val="solid"/>
          </a:ln>
        </p:spPr>
      </p:sp>
      <p:sp>
        <p:nvSpPr>
          <p:cNvPr id="25" name="Gateway label"/>
          <p:cNvSpPr txBox="1"/>
          <p:nvPr/>
        </p:nvSpPr>
        <p:spPr>
          <a:xfrm>
            <a:off x="7315200" y="1280160"/>
            <a:ext cx="1371600" cy="914400"/>
          </a:xfrm>
          <a:prstGeom prst="rect">
            <a:avLst/>
          </a:prstGeom>
          <a:noFill/>
          <a:ln/>
        </p:spPr>
        <p:txBody>
          <a:bodyPr wrap="square" lIns="0" tIns="0" rIns="0" bIns="0" rtlCol="0" anchor="ctr"/>
          <a:lstStyle/>
          <a:p>
            <a:pPr algn="ctr" indent="0" marL="0">
              <a:buNone/>
            </a:pPr>
            <a:r>
              <a:rPr lang="en-US" sz="1200" b="1" dirty="0">
                <a:solidFill>
                  <a:schemeClr val="tx1"/>
                </a:solidFill>
              </a:rPr>
              <a:t>Payment gateway</a:t>
            </a:r>
            <a:endParaRPr lang="en-US" sz="1200" dirty="0"/>
          </a:p>
          <a:p>
            <a:pPr algn="ctr" indent="0" marL="0">
              <a:buNone/>
            </a:pPr>
            <a:r>
              <a:rPr lang="en-US" sz="1200" b="1" dirty="0">
                <a:solidFill>
                  <a:schemeClr val="tx1"/>
                </a:solidFill>
              </a:rPr>
              <a:t>(simulated)</a:t>
            </a:r>
            <a:endParaRPr lang="en-US" sz="1200" dirty="0"/>
          </a:p>
        </p:txBody>
      </p:sp>
      <p:sp>
        <p:nvSpPr>
          <p:cNvPr id="26" name="Clients to API"/>
          <p:cNvSpPr/>
          <p:nvPr/>
        </p:nvSpPr>
        <p:spPr>
          <a:xfrm>
            <a:off x="1920240" y="2743200"/>
            <a:ext cx="685800" cy="0"/>
          </a:xfrm>
          <a:prstGeom prst="line">
            <a:avLst/>
          </a:prstGeom>
          <a:noFill/>
          <a:ln w="19050">
            <a:solidFill>
              <a:schemeClr val="tx2"/>
            </a:solidFill>
            <a:prstDash val="solid"/>
            <a:tailEnd type="triangle"/>
          </a:ln>
        </p:spPr>
      </p:sp>
      <p:sp>
        <p:nvSpPr>
          <p:cNvPr id="27" name="API to database"/>
          <p:cNvSpPr/>
          <p:nvPr/>
        </p:nvSpPr>
        <p:spPr>
          <a:xfrm>
            <a:off x="6720840" y="3474720"/>
            <a:ext cx="594360" cy="0"/>
          </a:xfrm>
          <a:prstGeom prst="line">
            <a:avLst/>
          </a:prstGeom>
          <a:noFill/>
          <a:ln w="19050">
            <a:solidFill>
              <a:schemeClr val="tx2"/>
            </a:solidFill>
            <a:prstDash val="solid"/>
            <a:tailEnd type="triangle"/>
          </a:ln>
        </p:spPr>
      </p:sp>
      <p:sp>
        <p:nvSpPr>
          <p:cNvPr id="28" name="API to gateway"/>
          <p:cNvSpPr/>
          <p:nvPr/>
        </p:nvSpPr>
        <p:spPr>
          <a:xfrm>
            <a:off x="6720840" y="1737360"/>
            <a:ext cx="594360" cy="0"/>
          </a:xfrm>
          <a:prstGeom prst="line">
            <a:avLst/>
          </a:prstGeom>
          <a:noFill/>
          <a:ln w="19050">
            <a:solidFill>
              <a:schemeClr val="tx2"/>
            </a:solidFill>
            <a:prstDash val="solid"/>
            <a:tailEnd type="triangle"/>
          </a:ln>
        </p:spPr>
      </p:sp>
      <p:sp>
        <p:nvSpPr>
          <p:cNvPr id="29" name="REST label"/>
          <p:cNvSpPr txBox="1"/>
          <p:nvPr/>
        </p:nvSpPr>
        <p:spPr>
          <a:xfrm>
            <a:off x="1828800" y="2240280"/>
            <a:ext cx="777240" cy="457200"/>
          </a:xfrm>
          <a:prstGeom prst="rect">
            <a:avLst/>
          </a:prstGeom>
          <a:noFill/>
          <a:ln/>
        </p:spPr>
        <p:txBody>
          <a:bodyPr wrap="square" lIns="0" tIns="0" rIns="0" bIns="0" rtlCol="0" anchor="t"/>
          <a:lstStyle/>
          <a:p>
            <a:pPr algn="ctr" indent="0" marL="0">
              <a:buNone/>
            </a:pPr>
            <a:r>
              <a:rPr lang="en-US" sz="1000" dirty="0">
                <a:solidFill>
                  <a:schemeClr val="tx2"/>
                </a:solidFill>
              </a:rPr>
              <a:t>REST/JSON + JWT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Domain-driven design: bounded contexts</a:t>
            </a:r>
            <a:endParaRPr lang="en-US" sz="3000" dirty="0"/>
          </a:p>
        </p:txBody>
      </p:sp>
      <p:sp>
        <p:nvSpPr>
          <p:cNvPr id="3" name="Identity and access context"/>
          <p:cNvSpPr/>
          <p:nvPr/>
        </p:nvSpPr>
        <p:spPr>
          <a:xfrm>
            <a:off x="457200" y="1097280"/>
            <a:ext cx="2148840" cy="1051560"/>
          </a:xfrm>
          <a:prstGeom prst="roundRect">
            <a:avLst>
              <a:gd name="adj" fmla="val 6957"/>
            </a:avLst>
          </a:prstGeom>
          <a:solidFill>
            <a:schemeClr val="bg2"/>
          </a:solidFill>
          <a:ln w="12700">
            <a:solidFill>
              <a:schemeClr val="bg2"/>
            </a:solidFill>
            <a:prstDash val="solid"/>
          </a:ln>
        </p:spPr>
      </p:sp>
      <p:sp>
        <p:nvSpPr>
          <p:cNvPr id="4" name="Identity and access dot"/>
          <p:cNvSpPr/>
          <p:nvPr/>
        </p:nvSpPr>
        <p:spPr>
          <a:xfrm>
            <a:off x="566928" y="1207008"/>
            <a:ext cx="146304" cy="146304"/>
          </a:xfrm>
          <a:prstGeom prst="ellipse">
            <a:avLst/>
          </a:prstGeom>
          <a:solidFill>
            <a:schemeClr val="accent4"/>
          </a:solidFill>
          <a:ln w="12700">
            <a:solidFill>
              <a:schemeClr val="accent4"/>
            </a:solidFill>
            <a:prstDash val="solid"/>
          </a:ln>
        </p:spPr>
      </p:sp>
      <p:sp>
        <p:nvSpPr>
          <p:cNvPr id="5" name="Identity and access name"/>
          <p:cNvSpPr txBox="1"/>
          <p:nvPr/>
        </p:nvSpPr>
        <p:spPr>
          <a:xfrm>
            <a:off x="804672" y="1170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Identity and access</a:t>
            </a:r>
            <a:endParaRPr lang="en-US" sz="1300" dirty="0"/>
          </a:p>
        </p:txBody>
      </p:sp>
      <p:sp>
        <p:nvSpPr>
          <p:cNvPr id="6" name="Identity and access aggregates"/>
          <p:cNvSpPr txBox="1"/>
          <p:nvPr/>
        </p:nvSpPr>
        <p:spPr>
          <a:xfrm>
            <a:off x="566928" y="1508760"/>
            <a:ext cx="1965960" cy="594360"/>
          </a:xfrm>
          <a:prstGeom prst="rect">
            <a:avLst/>
          </a:prstGeom>
          <a:noFill/>
          <a:ln/>
        </p:spPr>
        <p:txBody>
          <a:bodyPr wrap="square" lIns="0" tIns="0" rIns="0" bIns="0" rtlCol="0" anchor="t"/>
          <a:lstStyle/>
          <a:p>
            <a:pPr indent="0" marL="0">
              <a:buNone/>
            </a:pPr>
            <a:r>
              <a:rPr lang="en-US" sz="1100" dirty="0">
                <a:solidFill>
                  <a:schemeClr val="tx1"/>
                </a:solidFill>
              </a:rPr>
              <a:t>Account, role, JWT claims</a:t>
            </a:r>
            <a:endParaRPr lang="en-US" sz="1100" dirty="0"/>
          </a:p>
        </p:txBody>
      </p:sp>
      <p:sp>
        <p:nvSpPr>
          <p:cNvPr id="7" name="Catalog context"/>
          <p:cNvSpPr/>
          <p:nvPr/>
        </p:nvSpPr>
        <p:spPr>
          <a:xfrm>
            <a:off x="2697480" y="1097280"/>
            <a:ext cx="2148840" cy="1051560"/>
          </a:xfrm>
          <a:prstGeom prst="roundRect">
            <a:avLst>
              <a:gd name="adj" fmla="val 6957"/>
            </a:avLst>
          </a:prstGeom>
          <a:solidFill>
            <a:schemeClr val="bg2"/>
          </a:solidFill>
          <a:ln w="12700">
            <a:solidFill>
              <a:schemeClr val="bg2"/>
            </a:solidFill>
            <a:prstDash val="solid"/>
          </a:ln>
        </p:spPr>
      </p:sp>
      <p:sp>
        <p:nvSpPr>
          <p:cNvPr id="8" name="Catalog dot"/>
          <p:cNvSpPr/>
          <p:nvPr/>
        </p:nvSpPr>
        <p:spPr>
          <a:xfrm>
            <a:off x="2807208" y="1207008"/>
            <a:ext cx="146304" cy="146304"/>
          </a:xfrm>
          <a:prstGeom prst="ellipse">
            <a:avLst/>
          </a:prstGeom>
          <a:solidFill>
            <a:schemeClr val="accent4"/>
          </a:solidFill>
          <a:ln w="12700">
            <a:solidFill>
              <a:schemeClr val="accent4"/>
            </a:solidFill>
            <a:prstDash val="solid"/>
          </a:ln>
        </p:spPr>
      </p:sp>
      <p:sp>
        <p:nvSpPr>
          <p:cNvPr id="9" name="Catalog name"/>
          <p:cNvSpPr txBox="1"/>
          <p:nvPr/>
        </p:nvSpPr>
        <p:spPr>
          <a:xfrm>
            <a:off x="3044952" y="1170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Catalog</a:t>
            </a:r>
            <a:endParaRPr lang="en-US" sz="1300" dirty="0"/>
          </a:p>
        </p:txBody>
      </p:sp>
      <p:sp>
        <p:nvSpPr>
          <p:cNvPr id="10" name="Catalog aggregates"/>
          <p:cNvSpPr txBox="1"/>
          <p:nvPr/>
        </p:nvSpPr>
        <p:spPr>
          <a:xfrm>
            <a:off x="2807208" y="1508760"/>
            <a:ext cx="1965960" cy="594360"/>
          </a:xfrm>
          <a:prstGeom prst="rect">
            <a:avLst/>
          </a:prstGeom>
          <a:noFill/>
          <a:ln/>
        </p:spPr>
        <p:txBody>
          <a:bodyPr wrap="square" lIns="0" tIns="0" rIns="0" bIns="0" rtlCol="0" anchor="t"/>
          <a:lstStyle/>
          <a:p>
            <a:pPr indent="0" marL="0">
              <a:buNone/>
            </a:pPr>
            <a:r>
              <a:rPr lang="en-US" sz="1100" dirty="0">
                <a:solidFill>
                  <a:schemeClr val="tx1"/>
                </a:solidFill>
              </a:rPr>
              <a:t>Merchant, Dish, SpecialOffer, menu item type</a:t>
            </a:r>
            <a:endParaRPr lang="en-US" sz="1100" dirty="0"/>
          </a:p>
        </p:txBody>
      </p:sp>
      <p:sp>
        <p:nvSpPr>
          <p:cNvPr id="11" name="Ordering context"/>
          <p:cNvSpPr/>
          <p:nvPr/>
        </p:nvSpPr>
        <p:spPr>
          <a:xfrm>
            <a:off x="457200" y="2240280"/>
            <a:ext cx="2148840" cy="1051560"/>
          </a:xfrm>
          <a:prstGeom prst="roundRect">
            <a:avLst>
              <a:gd name="adj" fmla="val 6957"/>
            </a:avLst>
          </a:prstGeom>
          <a:solidFill>
            <a:schemeClr val="bg2"/>
          </a:solidFill>
          <a:ln w="12700">
            <a:solidFill>
              <a:schemeClr val="bg2"/>
            </a:solidFill>
            <a:prstDash val="solid"/>
          </a:ln>
        </p:spPr>
      </p:sp>
      <p:sp>
        <p:nvSpPr>
          <p:cNvPr id="12" name="Ordering dot"/>
          <p:cNvSpPr/>
          <p:nvPr/>
        </p:nvSpPr>
        <p:spPr>
          <a:xfrm>
            <a:off x="566928" y="2350008"/>
            <a:ext cx="146304" cy="146304"/>
          </a:xfrm>
          <a:prstGeom prst="ellipse">
            <a:avLst/>
          </a:prstGeom>
          <a:solidFill>
            <a:schemeClr val="accent1"/>
          </a:solidFill>
          <a:ln w="12700">
            <a:solidFill>
              <a:schemeClr val="accent1"/>
            </a:solidFill>
            <a:prstDash val="solid"/>
          </a:ln>
        </p:spPr>
      </p:sp>
      <p:sp>
        <p:nvSpPr>
          <p:cNvPr id="13" name="Ordering name"/>
          <p:cNvSpPr txBox="1"/>
          <p:nvPr/>
        </p:nvSpPr>
        <p:spPr>
          <a:xfrm>
            <a:off x="804672" y="2313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Ordering</a:t>
            </a:r>
            <a:endParaRPr lang="en-US" sz="1300" dirty="0"/>
          </a:p>
        </p:txBody>
      </p:sp>
      <p:sp>
        <p:nvSpPr>
          <p:cNvPr id="14" name="Ordering aggregates"/>
          <p:cNvSpPr txBox="1"/>
          <p:nvPr/>
        </p:nvSpPr>
        <p:spPr>
          <a:xfrm>
            <a:off x="566928" y="2651760"/>
            <a:ext cx="1965960" cy="594360"/>
          </a:xfrm>
          <a:prstGeom prst="rect">
            <a:avLst/>
          </a:prstGeom>
          <a:noFill/>
          <a:ln/>
        </p:spPr>
        <p:txBody>
          <a:bodyPr wrap="square" lIns="0" tIns="0" rIns="0" bIns="0" rtlCol="0" anchor="t"/>
          <a:lstStyle/>
          <a:p>
            <a:pPr indent="0" marL="0">
              <a:buNone/>
            </a:pPr>
            <a:r>
              <a:rPr lang="en-US" sz="1100" dirty="0">
                <a:solidFill>
                  <a:schemeClr val="tx1"/>
                </a:solidFill>
              </a:rPr>
              <a:t>Cart, Order, Payment</a:t>
            </a:r>
            <a:endParaRPr lang="en-US" sz="1100" dirty="0"/>
          </a:p>
        </p:txBody>
      </p:sp>
      <p:sp>
        <p:nvSpPr>
          <p:cNvPr id="15" name="Pricing and promotion context"/>
          <p:cNvSpPr/>
          <p:nvPr/>
        </p:nvSpPr>
        <p:spPr>
          <a:xfrm>
            <a:off x="2697480" y="2240280"/>
            <a:ext cx="2148840" cy="1051560"/>
          </a:xfrm>
          <a:prstGeom prst="roundRect">
            <a:avLst>
              <a:gd name="adj" fmla="val 6957"/>
            </a:avLst>
          </a:prstGeom>
          <a:solidFill>
            <a:schemeClr val="bg2"/>
          </a:solidFill>
          <a:ln w="12700">
            <a:solidFill>
              <a:schemeClr val="bg2"/>
            </a:solidFill>
            <a:prstDash val="solid"/>
          </a:ln>
        </p:spPr>
      </p:sp>
      <p:sp>
        <p:nvSpPr>
          <p:cNvPr id="16" name="Pricing and promotion dot"/>
          <p:cNvSpPr/>
          <p:nvPr/>
        </p:nvSpPr>
        <p:spPr>
          <a:xfrm>
            <a:off x="2807208" y="2350008"/>
            <a:ext cx="146304" cy="146304"/>
          </a:xfrm>
          <a:prstGeom prst="ellipse">
            <a:avLst/>
          </a:prstGeom>
          <a:solidFill>
            <a:schemeClr val="accent3"/>
          </a:solidFill>
          <a:ln w="12700">
            <a:solidFill>
              <a:schemeClr val="accent3"/>
            </a:solidFill>
            <a:prstDash val="solid"/>
          </a:ln>
        </p:spPr>
      </p:sp>
      <p:sp>
        <p:nvSpPr>
          <p:cNvPr id="17" name="Pricing and promotion name"/>
          <p:cNvSpPr txBox="1"/>
          <p:nvPr/>
        </p:nvSpPr>
        <p:spPr>
          <a:xfrm>
            <a:off x="3044952" y="2313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Pricing and promotion</a:t>
            </a:r>
            <a:endParaRPr lang="en-US" sz="1300" dirty="0"/>
          </a:p>
        </p:txBody>
      </p:sp>
      <p:sp>
        <p:nvSpPr>
          <p:cNvPr id="18" name="Pricing and promotion aggregates"/>
          <p:cNvSpPr txBox="1"/>
          <p:nvPr/>
        </p:nvSpPr>
        <p:spPr>
          <a:xfrm>
            <a:off x="2807208" y="2651760"/>
            <a:ext cx="1965960" cy="594360"/>
          </a:xfrm>
          <a:prstGeom prst="rect">
            <a:avLst/>
          </a:prstGeom>
          <a:noFill/>
          <a:ln/>
        </p:spPr>
        <p:txBody>
          <a:bodyPr wrap="square" lIns="0" tIns="0" rIns="0" bIns="0" rtlCol="0" anchor="t"/>
          <a:lstStyle/>
          <a:p>
            <a:pPr indent="0" marL="0">
              <a:buNone/>
            </a:pPr>
            <a:r>
              <a:rPr lang="en-US" sz="1100" dirty="0">
                <a:solidFill>
                  <a:schemeClr val="tx1"/>
                </a:solidFill>
              </a:rPr>
              <a:t>Platform coupon, customer allocation, discount strategy</a:t>
            </a:r>
            <a:endParaRPr lang="en-US" sz="1100" dirty="0"/>
          </a:p>
        </p:txBody>
      </p:sp>
      <p:sp>
        <p:nvSpPr>
          <p:cNvPr id="19" name="Inventory context"/>
          <p:cNvSpPr/>
          <p:nvPr/>
        </p:nvSpPr>
        <p:spPr>
          <a:xfrm>
            <a:off x="457200" y="3383280"/>
            <a:ext cx="2148840" cy="1051560"/>
          </a:xfrm>
          <a:prstGeom prst="roundRect">
            <a:avLst>
              <a:gd name="adj" fmla="val 6957"/>
            </a:avLst>
          </a:prstGeom>
          <a:solidFill>
            <a:schemeClr val="bg2"/>
          </a:solidFill>
          <a:ln w="12700">
            <a:solidFill>
              <a:schemeClr val="bg2"/>
            </a:solidFill>
            <a:prstDash val="solid"/>
          </a:ln>
        </p:spPr>
      </p:sp>
      <p:sp>
        <p:nvSpPr>
          <p:cNvPr id="20" name="Inventory dot"/>
          <p:cNvSpPr/>
          <p:nvPr/>
        </p:nvSpPr>
        <p:spPr>
          <a:xfrm>
            <a:off x="566928" y="3493008"/>
            <a:ext cx="146304" cy="146304"/>
          </a:xfrm>
          <a:prstGeom prst="ellipse">
            <a:avLst/>
          </a:prstGeom>
          <a:solidFill>
            <a:schemeClr val="accent3"/>
          </a:solidFill>
          <a:ln w="12700">
            <a:solidFill>
              <a:schemeClr val="accent3"/>
            </a:solidFill>
            <a:prstDash val="solid"/>
          </a:ln>
        </p:spPr>
      </p:sp>
      <p:sp>
        <p:nvSpPr>
          <p:cNvPr id="21" name="Inventory name"/>
          <p:cNvSpPr txBox="1"/>
          <p:nvPr/>
        </p:nvSpPr>
        <p:spPr>
          <a:xfrm>
            <a:off x="804672" y="3456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Inventory</a:t>
            </a:r>
            <a:endParaRPr lang="en-US" sz="1300" dirty="0"/>
          </a:p>
        </p:txBody>
      </p:sp>
      <p:sp>
        <p:nvSpPr>
          <p:cNvPr id="22" name="Inventory aggregates"/>
          <p:cNvSpPr txBox="1"/>
          <p:nvPr/>
        </p:nvSpPr>
        <p:spPr>
          <a:xfrm>
            <a:off x="566928" y="3794760"/>
            <a:ext cx="1965960" cy="594360"/>
          </a:xfrm>
          <a:prstGeom prst="rect">
            <a:avLst/>
          </a:prstGeom>
          <a:noFill/>
          <a:ln/>
        </p:spPr>
        <p:txBody>
          <a:bodyPr wrap="square" lIns="0" tIns="0" rIns="0" bIns="0" rtlCol="0" anchor="t"/>
          <a:lstStyle/>
          <a:p>
            <a:pPr indent="0" marL="0">
              <a:buNone/>
            </a:pPr>
            <a:r>
              <a:rPr lang="en-US" sz="1100" dirty="0">
                <a:solidFill>
                  <a:schemeClr val="tx1"/>
                </a:solidFill>
              </a:rPr>
              <a:t>Reservation ledger per order</a:t>
            </a:r>
            <a:endParaRPr lang="en-US" sz="1100" dirty="0"/>
          </a:p>
        </p:txBody>
      </p:sp>
      <p:sp>
        <p:nvSpPr>
          <p:cNvPr id="23" name="Fulfilment context"/>
          <p:cNvSpPr/>
          <p:nvPr/>
        </p:nvSpPr>
        <p:spPr>
          <a:xfrm>
            <a:off x="2697480" y="3383280"/>
            <a:ext cx="2148840" cy="1051560"/>
          </a:xfrm>
          <a:prstGeom prst="roundRect">
            <a:avLst>
              <a:gd name="adj" fmla="val 6957"/>
            </a:avLst>
          </a:prstGeom>
          <a:solidFill>
            <a:schemeClr val="bg2"/>
          </a:solidFill>
          <a:ln w="12700">
            <a:solidFill>
              <a:schemeClr val="bg2"/>
            </a:solidFill>
            <a:prstDash val="solid"/>
          </a:ln>
        </p:spPr>
      </p:sp>
      <p:sp>
        <p:nvSpPr>
          <p:cNvPr id="24" name="Fulfilment dot"/>
          <p:cNvSpPr/>
          <p:nvPr/>
        </p:nvSpPr>
        <p:spPr>
          <a:xfrm>
            <a:off x="2807208" y="3493008"/>
            <a:ext cx="146304" cy="146304"/>
          </a:xfrm>
          <a:prstGeom prst="ellipse">
            <a:avLst/>
          </a:prstGeom>
          <a:solidFill>
            <a:schemeClr val="accent2"/>
          </a:solidFill>
          <a:ln w="12700">
            <a:solidFill>
              <a:schemeClr val="accent2"/>
            </a:solidFill>
            <a:prstDash val="solid"/>
          </a:ln>
        </p:spPr>
      </p:sp>
      <p:sp>
        <p:nvSpPr>
          <p:cNvPr id="25" name="Fulfilment name"/>
          <p:cNvSpPr txBox="1"/>
          <p:nvPr/>
        </p:nvSpPr>
        <p:spPr>
          <a:xfrm>
            <a:off x="3044952" y="3456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Fulfilment</a:t>
            </a:r>
            <a:endParaRPr lang="en-US" sz="1300" dirty="0"/>
          </a:p>
        </p:txBody>
      </p:sp>
      <p:sp>
        <p:nvSpPr>
          <p:cNvPr id="26" name="Fulfilment aggregates"/>
          <p:cNvSpPr txBox="1"/>
          <p:nvPr/>
        </p:nvSpPr>
        <p:spPr>
          <a:xfrm>
            <a:off x="2807208" y="3794760"/>
            <a:ext cx="1965960" cy="594360"/>
          </a:xfrm>
          <a:prstGeom prst="rect">
            <a:avLst/>
          </a:prstGeom>
          <a:noFill/>
          <a:ln/>
        </p:spPr>
        <p:txBody>
          <a:bodyPr wrap="square" lIns="0" tIns="0" rIns="0" bIns="0" rtlCol="0" anchor="t"/>
          <a:lstStyle/>
          <a:p>
            <a:pPr indent="0" marL="0">
              <a:buNone/>
            </a:pPr>
            <a:r>
              <a:rPr lang="en-US" sz="1100" dirty="0">
                <a:solidFill>
                  <a:schemeClr val="tx1"/>
                </a:solidFill>
              </a:rPr>
              <a:t>Merchant fulfilment, rider delivery, assignment</a:t>
            </a:r>
            <a:endParaRPr lang="en-US" sz="1100" dirty="0"/>
          </a:p>
        </p:txBody>
      </p:sp>
      <p:sp>
        <p:nvSpPr>
          <p:cNvPr id="27" name="Governance note"/>
          <p:cNvSpPr txBox="1"/>
          <p:nvPr/>
        </p:nvSpPr>
        <p:spPr>
          <a:xfrm>
            <a:off x="457200" y="4526280"/>
            <a:ext cx="4389120" cy="228600"/>
          </a:xfrm>
          <a:prstGeom prst="rect">
            <a:avLst/>
          </a:prstGeom>
          <a:noFill/>
          <a:ln/>
        </p:spPr>
        <p:txBody>
          <a:bodyPr wrap="square" lIns="0" tIns="0" rIns="0" bIns="0" rtlCol="0" anchor="t"/>
          <a:lstStyle/>
          <a:p>
            <a:pPr indent="0" marL="0">
              <a:buNone/>
            </a:pPr>
            <a:r>
              <a:rPr lang="en-US" sz="1100" dirty="0">
                <a:solidFill>
                  <a:schemeClr val="tx2"/>
                </a:solidFill>
              </a:rPr>
              <a:t>Plus Admin and Audit: oversight across contexts.</a:t>
            </a:r>
            <a:endParaRPr lang="en-US" sz="1100" dirty="0"/>
          </a:p>
        </p:txBody>
      </p:sp>
      <p:sp>
        <p:nvSpPr>
          <p:cNvPr id="28" name="Interaction card"/>
          <p:cNvSpPr/>
          <p:nvPr/>
        </p:nvSpPr>
        <p:spPr>
          <a:xfrm>
            <a:off x="5074920" y="1097280"/>
            <a:ext cx="3611880" cy="3383280"/>
          </a:xfrm>
          <a:prstGeom prst="roundRect">
            <a:avLst>
              <a:gd name="adj" fmla="val 2162"/>
            </a:avLst>
          </a:prstGeom>
          <a:solidFill>
            <a:schemeClr val="tx1"/>
          </a:solidFill>
          <a:ln w="12700">
            <a:solidFill>
              <a:schemeClr val="tx1"/>
            </a:solidFill>
            <a:prstDash val="solid"/>
          </a:ln>
        </p:spPr>
      </p:sp>
      <p:sp>
        <p:nvSpPr>
          <p:cNvPr id="29" name="Interaction heading"/>
          <p:cNvSpPr txBox="1"/>
          <p:nvPr/>
        </p:nvSpPr>
        <p:spPr>
          <a:xfrm>
            <a:off x="5257800" y="1188720"/>
            <a:ext cx="3291840" cy="320040"/>
          </a:xfrm>
          <a:prstGeom prst="rect">
            <a:avLst/>
          </a:prstGeom>
          <a:noFill/>
          <a:ln/>
        </p:spPr>
        <p:txBody>
          <a:bodyPr wrap="square" lIns="0" tIns="0" rIns="0" bIns="0" rtlCol="0" anchor="t"/>
          <a:lstStyle/>
          <a:p>
            <a:pPr indent="0" marL="0">
              <a:buNone/>
            </a:pPr>
            <a:r>
              <a:rPr lang="en-US" sz="1600" b="1" dirty="0">
                <a:solidFill>
                  <a:schemeClr val="accent2"/>
                </a:solidFill>
              </a:rPr>
              <a:t>Producers and consumers</a:t>
            </a:r>
            <a:endParaRPr lang="en-US" sz="1600" dirty="0"/>
          </a:p>
        </p:txBody>
      </p:sp>
      <p:sp>
        <p:nvSpPr>
          <p:cNvPr id="30" name="Interaction points"/>
          <p:cNvSpPr txBox="1"/>
          <p:nvPr/>
        </p:nvSpPr>
        <p:spPr>
          <a:xfrm>
            <a:off x="5257800" y="1554480"/>
            <a:ext cx="329184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Merchants produce menus, offers and stock; customers consume them.</a:t>
            </a:r>
            <a:endParaRPr lang="en-US" sz="1300" dirty="0"/>
          </a:p>
          <a:p>
            <a:pPr marL="177800" indent="-177800">
              <a:spcAft>
                <a:spcPts val="600"/>
              </a:spcAft>
              <a:buSzPct val="100000"/>
              <a:buChar char="•"/>
            </a:pPr>
            <a:r>
              <a:rPr lang="en-US" sz="1300" dirty="0">
                <a:solidFill>
                  <a:schemeClr val="bg1"/>
                </a:solidFill>
              </a:rPr>
              <a:t>A paid order is produced by the customer and consumed by merchant and rider, each through its own status actions.</a:t>
            </a:r>
            <a:endParaRPr lang="en-US" sz="1300" dirty="0"/>
          </a:p>
          <a:p>
            <a:pPr marL="177800" indent="-177800">
              <a:spcAft>
                <a:spcPts val="600"/>
              </a:spcAft>
              <a:buSzPct val="100000"/>
              <a:buChar char="•"/>
            </a:pPr>
            <a:r>
              <a:rPr lang="en-US" sz="1300" dirty="0">
                <a:solidFill>
                  <a:schemeClr val="bg1"/>
                </a:solidFill>
              </a:rPr>
              <a:t>Contexts meet through narrow contracts: quote (Cart to Pricing), reserve (Checkout to Inventory), charge (Checkout to the payment gateway).</a:t>
            </a:r>
            <a:endParaRPr lang="en-US" sz="1300" dirty="0"/>
          </a:p>
          <a:p>
            <a:pPr marL="177800" indent="-177800">
              <a:buSzPct val="100000"/>
              <a:buChar char="•"/>
            </a:pPr>
            <a:r>
              <a:rPr lang="en-US" sz="1300" i="1" dirty="0">
                <a:solidFill>
                  <a:schemeClr val="bg1"/>
                </a:solidFill>
              </a:rPr>
              <a:t>DDD-lite: contexts are modules in one deployable, with no event bus yet.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Design patterns in use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383280"/>
                <a:gridCol w="2834640"/>
              </a:tblGrid>
              <a:tr h="365760">
                <a:tc>
                  <a:txBody>
                    <a:bodyPr/>
                    <a:lstStyle/>
                    <a:p>
                      <a:pPr indent="0" marL="0">
                        <a:buNone/>
                      </a:pPr>
                      <a:r>
                        <a:rPr lang="en-US" sz="1300" b="1" dirty="0">
                          <a:solidFill>
                            <a:schemeClr val="bg1"/>
                          </a:solidFill>
                        </a:rPr>
                        <a:t>Pattern</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Where</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Problem it solves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30352">
                <a:tc>
                  <a:txBody>
                    <a:bodyPr/>
                    <a:lstStyle/>
                    <a:p>
                      <a:pPr indent="0" marL="0">
                        <a:buNone/>
                      </a:pPr>
                      <a:r>
                        <a:rPr lang="en-US" sz="1200" b="1" dirty="0">
                          <a:solidFill>
                            <a:srgbClr val="000000"/>
                          </a:solidFill>
                        </a:rPr>
                        <a:t>Strategy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IDiscountStrategy: merchant offer, platform coupon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Add a discount rule without touching checkout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Factory method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MenuItemFactory: standard, bundle, promotional</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Each item type validates itself and knows when it is available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Chain of responsibility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Rider assignment: active, zone, availability, capacity, selection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Eligibility rules stay small, ordered and testable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Gateway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IPaymentGateway with a simulated implementation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Swap in a real provider; test decline paths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Idempotent receiver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Idempotency-Key, unique per user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 retry never charges twice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Result wrapper and filter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ApiResult, ApiExceptionFilter, axios interceptor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response shape, no stack traces to clients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Physical architecture</a:t>
            </a:r>
            <a:endParaRPr lang="en-US" sz="3000" dirty="0"/>
          </a:p>
        </p:txBody>
      </p:sp>
      <p:sp>
        <p:nvSpPr>
          <p:cNvPr id="3" name="Browser"/>
          <p:cNvSpPr txBox="1"/>
          <p:nvPr/>
        </p:nvSpPr>
        <p:spPr>
          <a:xfrm>
            <a:off x="365760" y="2331720"/>
            <a:ext cx="1097280" cy="640080"/>
          </a:xfrm>
          <a:prstGeom prst="roundRect">
            <a:avLst>
              <a:gd name="adj" fmla="val 8571"/>
            </a:avLst>
          </a:prstGeom>
          <a:solidFill>
            <a:schemeClr val="accent5"/>
          </a:solidFill>
          <a:ln>
            <a:solidFill>
              <a:schemeClr val="accent5"/>
            </a:solidFill>
          </a:ln>
        </p:spPr>
        <p:txBody>
          <a:bodyPr wrap="square" lIns="508" tIns="508" rIns="508" bIns="508" rtlCol="0" anchor="ctr"/>
          <a:lstStyle/>
          <a:p>
            <a:pPr algn="ctr" indent="0" marL="0">
              <a:buNone/>
            </a:pPr>
            <a:r>
              <a:rPr lang="en-US" sz="1200" b="1" dirty="0">
                <a:solidFill>
                  <a:schemeClr val="bg1"/>
                </a:solidFill>
              </a:rPr>
              <a:t>Browser</a:t>
            </a:r>
            <a:endParaRPr lang="en-US" sz="1200" dirty="0"/>
          </a:p>
        </p:txBody>
      </p:sp>
      <p:sp>
        <p:nvSpPr>
          <p:cNvPr id="4" name="Compose group"/>
          <p:cNvSpPr/>
          <p:nvPr/>
        </p:nvSpPr>
        <p:spPr>
          <a:xfrm>
            <a:off x="1828800" y="1143000"/>
            <a:ext cx="4846320" cy="3063240"/>
          </a:xfrm>
          <a:prstGeom prst="roundRect">
            <a:avLst>
              <a:gd name="adj" fmla="val 2388"/>
            </a:avLst>
          </a:prstGeom>
          <a:solidFill>
            <a:schemeClr val="bg2"/>
          </a:solidFill>
          <a:ln w="12700">
            <a:solidFill>
              <a:schemeClr val="bg2"/>
            </a:solidFill>
            <a:prstDash val="solid"/>
          </a:ln>
        </p:spPr>
      </p:sp>
      <p:sp>
        <p:nvSpPr>
          <p:cNvPr id="5" name="Compose label"/>
          <p:cNvSpPr txBox="1"/>
          <p:nvPr/>
        </p:nvSpPr>
        <p:spPr>
          <a:xfrm>
            <a:off x="1965960" y="1207008"/>
            <a:ext cx="4572000" cy="274320"/>
          </a:xfrm>
          <a:prstGeom prst="rect">
            <a:avLst/>
          </a:prstGeom>
          <a:noFill/>
          <a:ln/>
        </p:spPr>
        <p:txBody>
          <a:bodyPr wrap="square" lIns="0" tIns="0" rIns="0" bIns="0" rtlCol="0" anchor="t"/>
          <a:lstStyle/>
          <a:p>
            <a:pPr indent="0" marL="0">
              <a:buNone/>
            </a:pPr>
            <a:r>
              <a:rPr lang="en-US" sz="1200" b="1" dirty="0">
                <a:solidFill>
                  <a:schemeClr val="tx2"/>
                </a:solidFill>
              </a:rPr>
              <a:t>Docker Compose network: local, CI and staging</a:t>
            </a:r>
            <a:endParaRPr lang="en-US" sz="1200" dirty="0"/>
          </a:p>
        </p:txBody>
      </p:sp>
      <p:sp>
        <p:nvSpPr>
          <p:cNvPr id="6" name="frontend container"/>
          <p:cNvSpPr/>
          <p:nvPr/>
        </p:nvSpPr>
        <p:spPr>
          <a:xfrm>
            <a:off x="1965960" y="1691640"/>
            <a:ext cx="1325880" cy="2103120"/>
          </a:xfrm>
          <a:prstGeom prst="roundRect">
            <a:avLst>
              <a:gd name="adj" fmla="val 5517"/>
            </a:avLst>
          </a:prstGeom>
          <a:solidFill>
            <a:schemeClr val="accent4"/>
          </a:solidFill>
          <a:ln w="12700">
            <a:solidFill>
              <a:schemeClr val="accent4"/>
            </a:solidFill>
            <a:prstDash val="solid"/>
          </a:ln>
        </p:spPr>
      </p:sp>
      <p:sp>
        <p:nvSpPr>
          <p:cNvPr id="7" name="frontend name"/>
          <p:cNvSpPr txBox="1"/>
          <p:nvPr/>
        </p:nvSpPr>
        <p:spPr>
          <a:xfrm>
            <a:off x="203911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frontend</a:t>
            </a:r>
            <a:endParaRPr lang="en-US" sz="1500" dirty="0"/>
          </a:p>
        </p:txBody>
      </p:sp>
      <p:sp>
        <p:nvSpPr>
          <p:cNvPr id="8" name="frontend tech"/>
          <p:cNvSpPr txBox="1"/>
          <p:nvPr/>
        </p:nvSpPr>
        <p:spPr>
          <a:xfrm>
            <a:off x="203911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nginx (unprivileged)</a:t>
            </a:r>
            <a:endParaRPr lang="en-US" sz="1100" dirty="0"/>
          </a:p>
        </p:txBody>
      </p:sp>
      <p:sp>
        <p:nvSpPr>
          <p:cNvPr id="9" name="frontend detail"/>
          <p:cNvSpPr txBox="1"/>
          <p:nvPr/>
        </p:nvSpPr>
        <p:spPr>
          <a:xfrm>
            <a:off x="203911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Vue build, /healthz, proxies /api</a:t>
            </a:r>
            <a:endParaRPr lang="en-US" sz="1100" dirty="0"/>
          </a:p>
        </p:txBody>
      </p:sp>
      <p:sp>
        <p:nvSpPr>
          <p:cNvPr id="10" name="api container"/>
          <p:cNvSpPr/>
          <p:nvPr/>
        </p:nvSpPr>
        <p:spPr>
          <a:xfrm>
            <a:off x="3520440" y="1691640"/>
            <a:ext cx="1325880" cy="2103120"/>
          </a:xfrm>
          <a:prstGeom prst="roundRect">
            <a:avLst>
              <a:gd name="adj" fmla="val 5517"/>
            </a:avLst>
          </a:prstGeom>
          <a:solidFill>
            <a:schemeClr val="accent1"/>
          </a:solidFill>
          <a:ln w="12700">
            <a:solidFill>
              <a:schemeClr val="accent1"/>
            </a:solidFill>
            <a:prstDash val="solid"/>
          </a:ln>
        </p:spPr>
      </p:sp>
      <p:sp>
        <p:nvSpPr>
          <p:cNvPr id="11" name="api name"/>
          <p:cNvSpPr txBox="1"/>
          <p:nvPr/>
        </p:nvSpPr>
        <p:spPr>
          <a:xfrm>
            <a:off x="359359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api</a:t>
            </a:r>
            <a:endParaRPr lang="en-US" sz="1500" dirty="0"/>
          </a:p>
        </p:txBody>
      </p:sp>
      <p:sp>
        <p:nvSpPr>
          <p:cNvPr id="12" name="api tech"/>
          <p:cNvSpPr txBox="1"/>
          <p:nvPr/>
        </p:nvSpPr>
        <p:spPr>
          <a:xfrm>
            <a:off x="359359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ASP.NET Core 8</a:t>
            </a:r>
            <a:endParaRPr lang="en-US" sz="1100" dirty="0"/>
          </a:p>
        </p:txBody>
      </p:sp>
      <p:sp>
        <p:nvSpPr>
          <p:cNvPr id="13" name="api detail"/>
          <p:cNvSpPr txBox="1"/>
          <p:nvPr/>
        </p:nvSpPr>
        <p:spPr>
          <a:xfrm>
            <a:off x="359359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non-root, cap_drop ALL, /api/health</a:t>
            </a:r>
            <a:endParaRPr lang="en-US" sz="1100" dirty="0"/>
          </a:p>
        </p:txBody>
      </p:sp>
      <p:sp>
        <p:nvSpPr>
          <p:cNvPr id="14" name="db container"/>
          <p:cNvSpPr/>
          <p:nvPr/>
        </p:nvSpPr>
        <p:spPr>
          <a:xfrm>
            <a:off x="5074920" y="1691640"/>
            <a:ext cx="1325880" cy="2103120"/>
          </a:xfrm>
          <a:prstGeom prst="roundRect">
            <a:avLst>
              <a:gd name="adj" fmla="val 5517"/>
            </a:avLst>
          </a:prstGeom>
          <a:solidFill>
            <a:schemeClr val="tx1"/>
          </a:solidFill>
          <a:ln w="12700">
            <a:solidFill>
              <a:schemeClr val="tx1"/>
            </a:solidFill>
            <a:prstDash val="solid"/>
          </a:ln>
        </p:spPr>
      </p:sp>
      <p:sp>
        <p:nvSpPr>
          <p:cNvPr id="15" name="db name"/>
          <p:cNvSpPr txBox="1"/>
          <p:nvPr/>
        </p:nvSpPr>
        <p:spPr>
          <a:xfrm>
            <a:off x="514807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db</a:t>
            </a:r>
            <a:endParaRPr lang="en-US" sz="1500" dirty="0"/>
          </a:p>
        </p:txBody>
      </p:sp>
      <p:sp>
        <p:nvSpPr>
          <p:cNvPr id="16" name="db tech"/>
          <p:cNvSpPr txBox="1"/>
          <p:nvPr/>
        </p:nvSpPr>
        <p:spPr>
          <a:xfrm>
            <a:off x="514807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PostgreSQL 16</a:t>
            </a:r>
            <a:endParaRPr lang="en-US" sz="1100" dirty="0"/>
          </a:p>
        </p:txBody>
      </p:sp>
      <p:sp>
        <p:nvSpPr>
          <p:cNvPr id="17" name="db detail"/>
          <p:cNvSpPr txBox="1"/>
          <p:nvPr/>
        </p:nvSpPr>
        <p:spPr>
          <a:xfrm>
            <a:off x="514807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named volume, no published port in staging</a:t>
            </a:r>
            <a:endParaRPr lang="en-US" sz="1100" dirty="0"/>
          </a:p>
        </p:txBody>
      </p:sp>
      <p:sp>
        <p:nvSpPr>
          <p:cNvPr id="18" name="Browser to frontend"/>
          <p:cNvSpPr/>
          <p:nvPr/>
        </p:nvSpPr>
        <p:spPr>
          <a:xfrm>
            <a:off x="1463040" y="2651760"/>
            <a:ext cx="502920" cy="0"/>
          </a:xfrm>
          <a:prstGeom prst="line">
            <a:avLst/>
          </a:prstGeom>
          <a:noFill/>
          <a:ln w="19050">
            <a:solidFill>
              <a:schemeClr val="tx2"/>
            </a:solidFill>
            <a:prstDash val="solid"/>
            <a:tailEnd type="triangle"/>
          </a:ln>
        </p:spPr>
      </p:sp>
      <p:sp>
        <p:nvSpPr>
          <p:cNvPr id="19" name="Frontend to API"/>
          <p:cNvSpPr/>
          <p:nvPr/>
        </p:nvSpPr>
        <p:spPr>
          <a:xfrm>
            <a:off x="3291840" y="2743200"/>
            <a:ext cx="228600" cy="0"/>
          </a:xfrm>
          <a:prstGeom prst="line">
            <a:avLst/>
          </a:prstGeom>
          <a:noFill/>
          <a:ln w="19050">
            <a:solidFill>
              <a:schemeClr val="tx2"/>
            </a:solidFill>
            <a:prstDash val="solid"/>
            <a:tailEnd type="triangle"/>
          </a:ln>
        </p:spPr>
      </p:sp>
      <p:sp>
        <p:nvSpPr>
          <p:cNvPr id="20" name="API to database"/>
          <p:cNvSpPr/>
          <p:nvPr/>
        </p:nvSpPr>
        <p:spPr>
          <a:xfrm>
            <a:off x="4846320" y="2743200"/>
            <a:ext cx="228600" cy="0"/>
          </a:xfrm>
          <a:prstGeom prst="line">
            <a:avLst/>
          </a:prstGeom>
          <a:noFill/>
          <a:ln w="19050">
            <a:solidFill>
              <a:schemeClr val="tx2"/>
            </a:solidFill>
            <a:prstDash val="solid"/>
            <a:tailEnd type="triangle"/>
          </a:ln>
        </p:spPr>
      </p:sp>
      <p:sp>
        <p:nvSpPr>
          <p:cNvPr id="21" name="GitHub card"/>
          <p:cNvSpPr/>
          <p:nvPr/>
        </p:nvSpPr>
        <p:spPr>
          <a:xfrm>
            <a:off x="7086600" y="1143000"/>
            <a:ext cx="1691640" cy="3063240"/>
          </a:xfrm>
          <a:prstGeom prst="roundRect">
            <a:avLst>
              <a:gd name="adj" fmla="val 4324"/>
            </a:avLst>
          </a:prstGeom>
          <a:solidFill>
            <a:schemeClr val="bg2"/>
          </a:solidFill>
          <a:ln w="12700">
            <a:solidFill>
              <a:schemeClr val="bg2"/>
            </a:solidFill>
            <a:prstDash val="solid"/>
          </a:ln>
        </p:spPr>
      </p:sp>
      <p:sp>
        <p:nvSpPr>
          <p:cNvPr id="22" name="GitHub heading"/>
          <p:cNvSpPr txBox="1"/>
          <p:nvPr/>
        </p:nvSpPr>
        <p:spPr>
          <a:xfrm>
            <a:off x="7178040" y="1234440"/>
            <a:ext cx="1508760" cy="274320"/>
          </a:xfrm>
          <a:prstGeom prst="rect">
            <a:avLst/>
          </a:prstGeom>
          <a:noFill/>
          <a:ln/>
        </p:spPr>
        <p:txBody>
          <a:bodyPr wrap="square" lIns="0" tIns="0" rIns="0" bIns="0" rtlCol="0" anchor="t"/>
          <a:lstStyle/>
          <a:p>
            <a:pPr algn="ctr" indent="0" marL="0">
              <a:buNone/>
            </a:pPr>
            <a:r>
              <a:rPr lang="en-US" sz="1400" b="1" dirty="0">
                <a:solidFill>
                  <a:schemeClr val="tx1"/>
                </a:solidFill>
              </a:rPr>
              <a:t>GitHub</a:t>
            </a:r>
            <a:endParaRPr lang="en-US" sz="1400" dirty="0"/>
          </a:p>
        </p:txBody>
      </p:sp>
      <p:sp>
        <p:nvSpPr>
          <p:cNvPr id="23" name="Actions chip"/>
          <p:cNvSpPr txBox="1"/>
          <p:nvPr/>
        </p:nvSpPr>
        <p:spPr>
          <a:xfrm>
            <a:off x="7223760" y="1645920"/>
            <a:ext cx="14173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Actions</a:t>
            </a:r>
            <a:endParaRPr lang="en-US" sz="1200" dirty="0"/>
          </a:p>
          <a:p>
            <a:pPr algn="ctr" indent="0" marL="0">
              <a:buNone/>
            </a:pPr>
            <a:r>
              <a:rPr lang="en-US" sz="1200" b="1" dirty="0">
                <a:solidFill>
                  <a:schemeClr val="bg1"/>
                </a:solidFill>
              </a:rPr>
              <a:t>CI and CD</a:t>
            </a:r>
            <a:endParaRPr lang="en-US" sz="1200" dirty="0"/>
          </a:p>
        </p:txBody>
      </p:sp>
      <p:sp>
        <p:nvSpPr>
          <p:cNvPr id="24" name="GHCR chip"/>
          <p:cNvSpPr txBox="1"/>
          <p:nvPr/>
        </p:nvSpPr>
        <p:spPr>
          <a:xfrm>
            <a:off x="7223760" y="2560320"/>
            <a:ext cx="141732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tx1"/>
                </a:solidFill>
              </a:rPr>
              <a:t>GHCR</a:t>
            </a:r>
            <a:endParaRPr lang="en-US" sz="1200" dirty="0"/>
          </a:p>
          <a:p>
            <a:pPr algn="ctr" indent="0" marL="0">
              <a:buNone/>
            </a:pPr>
            <a:r>
              <a:rPr lang="en-US" sz="1200" b="1" dirty="0">
                <a:solidFill>
                  <a:schemeClr val="tx1"/>
                </a:solidFill>
              </a:rPr>
              <a:t>images, sha tags</a:t>
            </a:r>
            <a:endParaRPr lang="en-US" sz="1200" dirty="0"/>
          </a:p>
        </p:txBody>
      </p:sp>
      <p:sp>
        <p:nvSpPr>
          <p:cNvPr id="25" name="Actions to GHCR"/>
          <p:cNvSpPr/>
          <p:nvPr/>
        </p:nvSpPr>
        <p:spPr>
          <a:xfrm>
            <a:off x="7932420" y="2286000"/>
            <a:ext cx="0" cy="274320"/>
          </a:xfrm>
          <a:prstGeom prst="line">
            <a:avLst/>
          </a:prstGeom>
          <a:noFill/>
          <a:ln w="19050">
            <a:solidFill>
              <a:schemeClr val="tx2"/>
            </a:solidFill>
            <a:prstDash val="solid"/>
            <a:tailEnd type="triangle"/>
          </a:ln>
        </p:spPr>
      </p:sp>
      <p:sp>
        <p:nvSpPr>
          <p:cNvPr id="26" name="GHCR to compose"/>
          <p:cNvSpPr/>
          <p:nvPr/>
        </p:nvSpPr>
        <p:spPr>
          <a:xfrm flipH="1">
            <a:off x="6675120" y="2880360"/>
            <a:ext cx="548640" cy="0"/>
          </a:xfrm>
          <a:prstGeom prst="line">
            <a:avLst/>
          </a:prstGeom>
          <a:noFill/>
          <a:ln w="19050">
            <a:solidFill>
              <a:schemeClr val="tx2"/>
            </a:solidFill>
            <a:prstDash val="solid"/>
            <a:tailEnd type="triangle"/>
          </a:ln>
        </p:spPr>
      </p:sp>
      <p:sp>
        <p:nvSpPr>
          <p:cNvPr id="27" name="Pull label"/>
          <p:cNvSpPr txBox="1"/>
          <p:nvPr/>
        </p:nvSpPr>
        <p:spPr>
          <a:xfrm>
            <a:off x="6720840" y="2926080"/>
            <a:ext cx="457200" cy="228600"/>
          </a:xfrm>
          <a:prstGeom prst="rect">
            <a:avLst/>
          </a:prstGeom>
          <a:noFill/>
          <a:ln/>
        </p:spPr>
        <p:txBody>
          <a:bodyPr wrap="square" lIns="0" tIns="0" rIns="0" bIns="0" rtlCol="0" anchor="t"/>
          <a:lstStyle/>
          <a:p>
            <a:pPr indent="0" marL="0">
              <a:buNone/>
            </a:pPr>
            <a:r>
              <a:rPr lang="en-US" sz="1000" dirty="0">
                <a:solidFill>
                  <a:schemeClr val="tx2"/>
                </a:solidFill>
              </a:rPr>
              <a:t>pull</a:t>
            </a:r>
            <a:endParaRPr lang="en-US" sz="1000" dirty="0"/>
          </a:p>
        </p:txBody>
      </p:sp>
      <p:sp>
        <p:nvSpPr>
          <p:cNvPr id="28" name="Artifact note"/>
          <p:cNvSpPr txBox="1"/>
          <p:nvPr/>
        </p:nvSpPr>
        <p:spPr>
          <a:xfrm>
            <a:off x="457200" y="4389120"/>
            <a:ext cx="7772400" cy="274320"/>
          </a:xfrm>
          <a:prstGeom prst="rect">
            <a:avLst/>
          </a:prstGeom>
          <a:noFill/>
          <a:ln/>
        </p:spPr>
        <p:txBody>
          <a:bodyPr wrap="square" lIns="0" tIns="0" rIns="0" bIns="0" rtlCol="0" anchor="t"/>
          <a:lstStyle/>
          <a:p>
            <a:pPr indent="0" marL="0">
              <a:buNone/>
            </a:pPr>
            <a:r>
              <a:rPr lang="en-US" sz="1200" dirty="0">
                <a:solidFill>
                  <a:schemeClr val="tx2"/>
                </a:solidFill>
              </a:rPr>
              <a:t>The same two images run everywhere. A cloud target would only replace the Compose host.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Technology choices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1005840"/>
                <a:gridCol w="2194560"/>
                <a:gridCol w="1920240"/>
              </a:tblGrid>
              <a:tr h="365760">
                <a:tc>
                  <a:txBody>
                    <a:bodyPr/>
                    <a:lstStyle/>
                    <a:p>
                      <a:pPr indent="0" marL="0">
                        <a:buNone/>
                      </a:pPr>
                      <a:r>
                        <a:rPr lang="en-US" sz="1300" b="1" dirty="0">
                          <a:solidFill>
                            <a:schemeClr val="bg1"/>
                          </a:solidFill>
                        </a:rPr>
                        <a:t>Layer</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Choice</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Why</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02920">
                <a:tc>
                  <a:txBody>
                    <a:bodyPr/>
                    <a:lstStyle/>
                    <a:p>
                      <a:pPr indent="0" marL="0">
                        <a:buNone/>
                      </a:pPr>
                      <a:r>
                        <a:rPr lang="en-US" sz="1200" b="1" dirty="0">
                          <a:solidFill>
                            <a:srgbClr val="000000"/>
                          </a:solidFill>
                        </a:rPr>
                        <a:t>Client</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Vue 3, Vite, Element Plus, Pinia</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Team skills, fast builds, Vitest</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API</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.NET 8 LTS, EF Core 8</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Long-term support, migrations</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Database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PostgreSQL 16 (Npgsql)</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Real constraints, easy to containerise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Edge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nginx, unprivileged</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Static files and a same-origin /api</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Packaging</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Docker, Compose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artifact for dev, CI and staging</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Pipeline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GitHub Actions, GHCR</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Integrated with the repository</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4" name="Scaling card"/>
          <p:cNvSpPr/>
          <p:nvPr/>
        </p:nvSpPr>
        <p:spPr>
          <a:xfrm>
            <a:off x="5760720" y="1097280"/>
            <a:ext cx="2926080" cy="3383280"/>
          </a:xfrm>
          <a:prstGeom prst="roundRect">
            <a:avLst>
              <a:gd name="adj" fmla="val 2500"/>
            </a:avLst>
          </a:prstGeom>
          <a:solidFill>
            <a:schemeClr val="tx1"/>
          </a:solidFill>
          <a:ln w="12700">
            <a:solidFill>
              <a:schemeClr val="tx1"/>
            </a:solidFill>
            <a:prstDash val="solid"/>
          </a:ln>
        </p:spPr>
      </p:sp>
      <p:sp>
        <p:nvSpPr>
          <p:cNvPr id="5" name="Scaling heading"/>
          <p:cNvSpPr txBox="1"/>
          <p:nvPr/>
        </p:nvSpPr>
        <p:spPr>
          <a:xfrm>
            <a:off x="5943600" y="1207008"/>
            <a:ext cx="2651760" cy="320040"/>
          </a:xfrm>
          <a:prstGeom prst="rect">
            <a:avLst/>
          </a:prstGeom>
          <a:noFill/>
          <a:ln/>
        </p:spPr>
        <p:txBody>
          <a:bodyPr wrap="square" lIns="0" tIns="0" rIns="0" bIns="0" rtlCol="0" anchor="t"/>
          <a:lstStyle/>
          <a:p>
            <a:pPr indent="0" marL="0">
              <a:buNone/>
            </a:pPr>
            <a:r>
              <a:rPr lang="en-US" sz="1500" b="1" dirty="0">
                <a:solidFill>
                  <a:schemeClr val="accent2"/>
                </a:solidFill>
              </a:rPr>
              <a:t>Where we stand on scale</a:t>
            </a:r>
            <a:endParaRPr lang="en-US" sz="1500" dirty="0"/>
          </a:p>
        </p:txBody>
      </p:sp>
      <p:sp>
        <p:nvSpPr>
          <p:cNvPr id="6" name="Scaling points"/>
          <p:cNvSpPr txBox="1"/>
          <p:nvPr/>
        </p:nvSpPr>
        <p:spPr>
          <a:xfrm>
            <a:off x="5943600" y="1645920"/>
            <a:ext cx="256032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bg1"/>
                </a:solidFill>
              </a:rPr>
              <a:t>The API keeps no session; identity is in the JWT, so replicas can sit behind the proxy.</a:t>
            </a:r>
            <a:endParaRPr lang="en-US" sz="1300" dirty="0"/>
          </a:p>
          <a:p>
            <a:pPr marL="177800" indent="-177800">
              <a:spcAft>
                <a:spcPts val="800"/>
              </a:spcAft>
              <a:buSzPct val="100000"/>
              <a:buChar char="•"/>
            </a:pPr>
            <a:r>
              <a:rPr lang="en-US" sz="1300" dirty="0">
                <a:solidFill>
                  <a:schemeClr val="bg1"/>
                </a:solidFill>
              </a:rPr>
              <a:t>The database is one instance; its constraints keep concurrent writes correct.</a:t>
            </a:r>
            <a:endParaRPr lang="en-US" sz="1300" dirty="0"/>
          </a:p>
          <a:p>
            <a:pPr marL="177800" indent="-177800">
              <a:spcAft>
                <a:spcPts val="800"/>
              </a:spcAft>
              <a:buSzPct val="100000"/>
              <a:buChar char="•"/>
            </a:pPr>
            <a:r>
              <a:rPr lang="en-US" sz="1300" dirty="0">
                <a:solidFill>
                  <a:schemeClr val="bg1"/>
                </a:solidFill>
              </a:rPr>
              <a:t>The proposed Azure target (Container Apps, Service Bus) and the scale-out measurements are not built.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Persistence design</a:t>
            </a:r>
            <a:endParaRPr lang="en-US" sz="3000" dirty="0"/>
          </a:p>
        </p:txBody>
      </p:sp>
      <p:sp>
        <p:nvSpPr>
          <p:cNvPr id="3" name="Identity group"/>
          <p:cNvSpPr/>
          <p:nvPr/>
        </p:nvSpPr>
        <p:spPr>
          <a:xfrm>
            <a:off x="457200" y="1097280"/>
            <a:ext cx="1234440" cy="411480"/>
          </a:xfrm>
          <a:prstGeom prst="roundRect">
            <a:avLst>
              <a:gd name="adj" fmla="val 13333"/>
            </a:avLst>
          </a:prstGeom>
          <a:solidFill>
            <a:schemeClr val="accent4"/>
          </a:solidFill>
          <a:ln w="12700">
            <a:solidFill>
              <a:schemeClr val="accent4"/>
            </a:solidFill>
            <a:prstDash val="solid"/>
          </a:ln>
        </p:spPr>
      </p:sp>
      <p:sp>
        <p:nvSpPr>
          <p:cNvPr id="4" name="Identity group label"/>
          <p:cNvSpPr txBox="1"/>
          <p:nvPr/>
        </p:nvSpPr>
        <p:spPr>
          <a:xfrm>
            <a:off x="457200" y="1097280"/>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Identity</a:t>
            </a:r>
            <a:endParaRPr lang="en-US" sz="1200" dirty="0"/>
          </a:p>
        </p:txBody>
      </p:sp>
      <p:sp>
        <p:nvSpPr>
          <p:cNvPr id="5" name="Identity tables card"/>
          <p:cNvSpPr/>
          <p:nvPr/>
        </p:nvSpPr>
        <p:spPr>
          <a:xfrm>
            <a:off x="1783080" y="1097280"/>
            <a:ext cx="3154680" cy="420624"/>
          </a:xfrm>
          <a:prstGeom prst="roundRect">
            <a:avLst>
              <a:gd name="adj" fmla="val 17391"/>
            </a:avLst>
          </a:prstGeom>
          <a:solidFill>
            <a:schemeClr val="bg2"/>
          </a:solidFill>
          <a:ln w="12700">
            <a:solidFill>
              <a:schemeClr val="bg2"/>
            </a:solidFill>
            <a:prstDash val="solid"/>
          </a:ln>
        </p:spPr>
      </p:sp>
      <p:sp>
        <p:nvSpPr>
          <p:cNvPr id="6" name="Identity tables"/>
          <p:cNvSpPr txBox="1"/>
          <p:nvPr/>
        </p:nvSpPr>
        <p:spPr>
          <a:xfrm>
            <a:off x="1874520" y="1097280"/>
            <a:ext cx="3017520" cy="420624"/>
          </a:xfrm>
          <a:prstGeom prst="rect">
            <a:avLst/>
          </a:prstGeom>
          <a:noFill/>
          <a:ln/>
        </p:spPr>
        <p:txBody>
          <a:bodyPr wrap="square" lIns="0" tIns="0" rIns="0" bIns="0" rtlCol="0" anchor="ctr"/>
          <a:lstStyle/>
          <a:p>
            <a:pPr indent="0" marL="0">
              <a:buNone/>
            </a:pPr>
            <a:r>
              <a:rPr lang="en-US" sz="1000" dirty="0">
                <a:solidFill>
                  <a:schemeClr val="tx1"/>
                </a:solidFill>
              </a:rPr>
              <a:t>Accounts, Users, Addresses, Riders</a:t>
            </a:r>
            <a:endParaRPr lang="en-US" sz="1000" dirty="0"/>
          </a:p>
        </p:txBody>
      </p:sp>
      <p:sp>
        <p:nvSpPr>
          <p:cNvPr id="7" name="Catalog group"/>
          <p:cNvSpPr/>
          <p:nvPr/>
        </p:nvSpPr>
        <p:spPr>
          <a:xfrm>
            <a:off x="457200" y="1581912"/>
            <a:ext cx="1234440" cy="411480"/>
          </a:xfrm>
          <a:prstGeom prst="roundRect">
            <a:avLst>
              <a:gd name="adj" fmla="val 13333"/>
            </a:avLst>
          </a:prstGeom>
          <a:solidFill>
            <a:schemeClr val="accent4"/>
          </a:solidFill>
          <a:ln w="12700">
            <a:solidFill>
              <a:schemeClr val="accent4"/>
            </a:solidFill>
            <a:prstDash val="solid"/>
          </a:ln>
        </p:spPr>
      </p:sp>
      <p:sp>
        <p:nvSpPr>
          <p:cNvPr id="8" name="Catalog group label"/>
          <p:cNvSpPr txBox="1"/>
          <p:nvPr/>
        </p:nvSpPr>
        <p:spPr>
          <a:xfrm>
            <a:off x="457200" y="1581912"/>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Catalog</a:t>
            </a:r>
            <a:endParaRPr lang="en-US" sz="1200" dirty="0"/>
          </a:p>
        </p:txBody>
      </p:sp>
      <p:sp>
        <p:nvSpPr>
          <p:cNvPr id="9" name="Catalog tables card"/>
          <p:cNvSpPr/>
          <p:nvPr/>
        </p:nvSpPr>
        <p:spPr>
          <a:xfrm>
            <a:off x="1783080" y="1581912"/>
            <a:ext cx="3154680" cy="420624"/>
          </a:xfrm>
          <a:prstGeom prst="roundRect">
            <a:avLst>
              <a:gd name="adj" fmla="val 17391"/>
            </a:avLst>
          </a:prstGeom>
          <a:solidFill>
            <a:schemeClr val="bg2"/>
          </a:solidFill>
          <a:ln w="12700">
            <a:solidFill>
              <a:schemeClr val="bg2"/>
            </a:solidFill>
            <a:prstDash val="solid"/>
          </a:ln>
        </p:spPr>
      </p:sp>
      <p:sp>
        <p:nvSpPr>
          <p:cNvPr id="10" name="Catalog tables"/>
          <p:cNvSpPr txBox="1"/>
          <p:nvPr/>
        </p:nvSpPr>
        <p:spPr>
          <a:xfrm>
            <a:off x="1874520" y="1581912"/>
            <a:ext cx="3017520" cy="420624"/>
          </a:xfrm>
          <a:prstGeom prst="rect">
            <a:avLst/>
          </a:prstGeom>
          <a:noFill/>
          <a:ln/>
        </p:spPr>
        <p:txBody>
          <a:bodyPr wrap="square" lIns="0" tIns="0" rIns="0" bIns="0" rtlCol="0" anchor="ctr"/>
          <a:lstStyle/>
          <a:p>
            <a:pPr indent="0" marL="0">
              <a:buNone/>
            </a:pPr>
            <a:r>
              <a:rPr lang="en-US" sz="1000" dirty="0">
                <a:solidFill>
                  <a:schemeClr val="tx1"/>
                </a:solidFill>
              </a:rPr>
              <a:t>Merchants, Dishes, SpecialOffers</a:t>
            </a:r>
            <a:endParaRPr lang="en-US" sz="1000" dirty="0"/>
          </a:p>
        </p:txBody>
      </p:sp>
      <p:sp>
        <p:nvSpPr>
          <p:cNvPr id="11" name="Ordering group"/>
          <p:cNvSpPr/>
          <p:nvPr/>
        </p:nvSpPr>
        <p:spPr>
          <a:xfrm>
            <a:off x="457200" y="2066544"/>
            <a:ext cx="1234440" cy="411480"/>
          </a:xfrm>
          <a:prstGeom prst="roundRect">
            <a:avLst>
              <a:gd name="adj" fmla="val 13333"/>
            </a:avLst>
          </a:prstGeom>
          <a:solidFill>
            <a:schemeClr val="accent1"/>
          </a:solidFill>
          <a:ln w="12700">
            <a:solidFill>
              <a:schemeClr val="accent1"/>
            </a:solidFill>
            <a:prstDash val="solid"/>
          </a:ln>
        </p:spPr>
      </p:sp>
      <p:sp>
        <p:nvSpPr>
          <p:cNvPr id="12" name="Ordering group label"/>
          <p:cNvSpPr txBox="1"/>
          <p:nvPr/>
        </p:nvSpPr>
        <p:spPr>
          <a:xfrm>
            <a:off x="457200" y="2066544"/>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Ordering</a:t>
            </a:r>
            <a:endParaRPr lang="en-US" sz="1200" dirty="0"/>
          </a:p>
        </p:txBody>
      </p:sp>
      <p:sp>
        <p:nvSpPr>
          <p:cNvPr id="13" name="Ordering tables card"/>
          <p:cNvSpPr/>
          <p:nvPr/>
        </p:nvSpPr>
        <p:spPr>
          <a:xfrm>
            <a:off x="1783080" y="2066544"/>
            <a:ext cx="3154680" cy="420624"/>
          </a:xfrm>
          <a:prstGeom prst="roundRect">
            <a:avLst>
              <a:gd name="adj" fmla="val 17391"/>
            </a:avLst>
          </a:prstGeom>
          <a:solidFill>
            <a:schemeClr val="bg2"/>
          </a:solidFill>
          <a:ln w="12700">
            <a:solidFill>
              <a:schemeClr val="bg2"/>
            </a:solidFill>
            <a:prstDash val="solid"/>
          </a:ln>
        </p:spPr>
      </p:sp>
      <p:sp>
        <p:nvSpPr>
          <p:cNvPr id="14" name="Ordering tables"/>
          <p:cNvSpPr txBox="1"/>
          <p:nvPr/>
        </p:nvSpPr>
        <p:spPr>
          <a:xfrm>
            <a:off x="1874520" y="2066544"/>
            <a:ext cx="3017520" cy="420624"/>
          </a:xfrm>
          <a:prstGeom prst="rect">
            <a:avLst/>
          </a:prstGeom>
          <a:noFill/>
          <a:ln/>
        </p:spPr>
        <p:txBody>
          <a:bodyPr wrap="square" lIns="0" tIns="0" rIns="0" bIns="0" rtlCol="0" anchor="ctr"/>
          <a:lstStyle/>
          <a:p>
            <a:pPr indent="0" marL="0">
              <a:buNone/>
            </a:pPr>
            <a:r>
              <a:rPr lang="en-US" sz="1000" dirty="0">
                <a:solidFill>
                  <a:schemeClr val="tx1"/>
                </a:solidFill>
              </a:rPr>
              <a:t>CartItems, Orders, OrderDishes, OrderUsers, OrderRiders, Payments</a:t>
            </a:r>
            <a:endParaRPr lang="en-US" sz="1000" dirty="0"/>
          </a:p>
        </p:txBody>
      </p:sp>
      <p:sp>
        <p:nvSpPr>
          <p:cNvPr id="15" name="Promotion group"/>
          <p:cNvSpPr/>
          <p:nvPr/>
        </p:nvSpPr>
        <p:spPr>
          <a:xfrm>
            <a:off x="457200" y="2551176"/>
            <a:ext cx="1234440" cy="411480"/>
          </a:xfrm>
          <a:prstGeom prst="roundRect">
            <a:avLst>
              <a:gd name="adj" fmla="val 13333"/>
            </a:avLst>
          </a:prstGeom>
          <a:solidFill>
            <a:schemeClr val="accent3"/>
          </a:solidFill>
          <a:ln w="12700">
            <a:solidFill>
              <a:schemeClr val="accent3"/>
            </a:solidFill>
            <a:prstDash val="solid"/>
          </a:ln>
        </p:spPr>
      </p:sp>
      <p:sp>
        <p:nvSpPr>
          <p:cNvPr id="16" name="Promotion group label"/>
          <p:cNvSpPr txBox="1"/>
          <p:nvPr/>
        </p:nvSpPr>
        <p:spPr>
          <a:xfrm>
            <a:off x="457200" y="2551176"/>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Promotion</a:t>
            </a:r>
            <a:endParaRPr lang="en-US" sz="1200" dirty="0"/>
          </a:p>
        </p:txBody>
      </p:sp>
      <p:sp>
        <p:nvSpPr>
          <p:cNvPr id="17" name="Promotion tables card"/>
          <p:cNvSpPr/>
          <p:nvPr/>
        </p:nvSpPr>
        <p:spPr>
          <a:xfrm>
            <a:off x="1783080" y="2551176"/>
            <a:ext cx="3154680" cy="420624"/>
          </a:xfrm>
          <a:prstGeom prst="roundRect">
            <a:avLst>
              <a:gd name="adj" fmla="val 17391"/>
            </a:avLst>
          </a:prstGeom>
          <a:solidFill>
            <a:schemeClr val="bg2"/>
          </a:solidFill>
          <a:ln w="12700">
            <a:solidFill>
              <a:schemeClr val="bg2"/>
            </a:solidFill>
            <a:prstDash val="solid"/>
          </a:ln>
        </p:spPr>
      </p:sp>
      <p:sp>
        <p:nvSpPr>
          <p:cNvPr id="18" name="Promotion tables"/>
          <p:cNvSpPr txBox="1"/>
          <p:nvPr/>
        </p:nvSpPr>
        <p:spPr>
          <a:xfrm>
            <a:off x="1874520" y="2551176"/>
            <a:ext cx="3017520" cy="420624"/>
          </a:xfrm>
          <a:prstGeom prst="rect">
            <a:avLst/>
          </a:prstGeom>
          <a:noFill/>
          <a:ln/>
        </p:spPr>
        <p:txBody>
          <a:bodyPr wrap="square" lIns="0" tIns="0" rIns="0" bIns="0" rtlCol="0" anchor="ctr"/>
          <a:lstStyle/>
          <a:p>
            <a:pPr indent="0" marL="0">
              <a:buNone/>
            </a:pPr>
            <a:r>
              <a:rPr lang="en-US" sz="1000" dirty="0">
                <a:solidFill>
                  <a:schemeClr val="tx1"/>
                </a:solidFill>
              </a:rPr>
              <a:t>PlatformCoupons, CustomerCoupons, OrderCoupons</a:t>
            </a:r>
            <a:endParaRPr lang="en-US" sz="1000" dirty="0"/>
          </a:p>
        </p:txBody>
      </p:sp>
      <p:sp>
        <p:nvSpPr>
          <p:cNvPr id="19" name="Inventory group"/>
          <p:cNvSpPr/>
          <p:nvPr/>
        </p:nvSpPr>
        <p:spPr>
          <a:xfrm>
            <a:off x="457200" y="3035808"/>
            <a:ext cx="1234440" cy="411480"/>
          </a:xfrm>
          <a:prstGeom prst="roundRect">
            <a:avLst>
              <a:gd name="adj" fmla="val 13333"/>
            </a:avLst>
          </a:prstGeom>
          <a:solidFill>
            <a:schemeClr val="accent3"/>
          </a:solidFill>
          <a:ln w="12700">
            <a:solidFill>
              <a:schemeClr val="accent3"/>
            </a:solidFill>
            <a:prstDash val="solid"/>
          </a:ln>
        </p:spPr>
      </p:sp>
      <p:sp>
        <p:nvSpPr>
          <p:cNvPr id="20" name="Inventory group label"/>
          <p:cNvSpPr txBox="1"/>
          <p:nvPr/>
        </p:nvSpPr>
        <p:spPr>
          <a:xfrm>
            <a:off x="457200" y="3035808"/>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Inventory</a:t>
            </a:r>
            <a:endParaRPr lang="en-US" sz="1200" dirty="0"/>
          </a:p>
        </p:txBody>
      </p:sp>
      <p:sp>
        <p:nvSpPr>
          <p:cNvPr id="21" name="Inventory tables card"/>
          <p:cNvSpPr/>
          <p:nvPr/>
        </p:nvSpPr>
        <p:spPr>
          <a:xfrm>
            <a:off x="1783080" y="3035808"/>
            <a:ext cx="3154680" cy="420624"/>
          </a:xfrm>
          <a:prstGeom prst="roundRect">
            <a:avLst>
              <a:gd name="adj" fmla="val 17391"/>
            </a:avLst>
          </a:prstGeom>
          <a:solidFill>
            <a:schemeClr val="bg2"/>
          </a:solidFill>
          <a:ln w="12700">
            <a:solidFill>
              <a:schemeClr val="bg2"/>
            </a:solidFill>
            <a:prstDash val="solid"/>
          </a:ln>
        </p:spPr>
      </p:sp>
      <p:sp>
        <p:nvSpPr>
          <p:cNvPr id="22" name="Inventory tables"/>
          <p:cNvSpPr txBox="1"/>
          <p:nvPr/>
        </p:nvSpPr>
        <p:spPr>
          <a:xfrm>
            <a:off x="1874520" y="3035808"/>
            <a:ext cx="3017520" cy="420624"/>
          </a:xfrm>
          <a:prstGeom prst="rect">
            <a:avLst/>
          </a:prstGeom>
          <a:noFill/>
          <a:ln/>
        </p:spPr>
        <p:txBody>
          <a:bodyPr wrap="square" lIns="0" tIns="0" rIns="0" bIns="0" rtlCol="0" anchor="ctr"/>
          <a:lstStyle/>
          <a:p>
            <a:pPr indent="0" marL="0">
              <a:buNone/>
            </a:pPr>
            <a:r>
              <a:rPr lang="en-US" sz="1000" dirty="0">
                <a:solidFill>
                  <a:schemeClr val="tx1"/>
                </a:solidFill>
              </a:rPr>
              <a:t>InventoryReservations</a:t>
            </a:r>
            <a:endParaRPr lang="en-US" sz="1000" dirty="0"/>
          </a:p>
        </p:txBody>
      </p:sp>
      <p:sp>
        <p:nvSpPr>
          <p:cNvPr id="23" name="Fulfilment group"/>
          <p:cNvSpPr/>
          <p:nvPr/>
        </p:nvSpPr>
        <p:spPr>
          <a:xfrm>
            <a:off x="457200" y="3520440"/>
            <a:ext cx="1234440" cy="411480"/>
          </a:xfrm>
          <a:prstGeom prst="roundRect">
            <a:avLst>
              <a:gd name="adj" fmla="val 13333"/>
            </a:avLst>
          </a:prstGeom>
          <a:solidFill>
            <a:schemeClr val="accent2"/>
          </a:solidFill>
          <a:ln w="12700">
            <a:solidFill>
              <a:schemeClr val="accent2"/>
            </a:solidFill>
            <a:prstDash val="solid"/>
          </a:ln>
        </p:spPr>
      </p:sp>
      <p:sp>
        <p:nvSpPr>
          <p:cNvPr id="24" name="Fulfilment group label"/>
          <p:cNvSpPr txBox="1"/>
          <p:nvPr/>
        </p:nvSpPr>
        <p:spPr>
          <a:xfrm>
            <a:off x="457200" y="3520440"/>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Fulfilment</a:t>
            </a:r>
            <a:endParaRPr lang="en-US" sz="1200" dirty="0"/>
          </a:p>
        </p:txBody>
      </p:sp>
      <p:sp>
        <p:nvSpPr>
          <p:cNvPr id="25" name="Fulfilment tables card"/>
          <p:cNvSpPr/>
          <p:nvPr/>
        </p:nvSpPr>
        <p:spPr>
          <a:xfrm>
            <a:off x="1783080" y="3520440"/>
            <a:ext cx="3154680" cy="420624"/>
          </a:xfrm>
          <a:prstGeom prst="roundRect">
            <a:avLst>
              <a:gd name="adj" fmla="val 17391"/>
            </a:avLst>
          </a:prstGeom>
          <a:solidFill>
            <a:schemeClr val="bg2"/>
          </a:solidFill>
          <a:ln w="12700">
            <a:solidFill>
              <a:schemeClr val="bg2"/>
            </a:solidFill>
            <a:prstDash val="solid"/>
          </a:ln>
        </p:spPr>
      </p:sp>
      <p:sp>
        <p:nvSpPr>
          <p:cNvPr id="26" name="Fulfilment tables"/>
          <p:cNvSpPr txBox="1"/>
          <p:nvPr/>
        </p:nvSpPr>
        <p:spPr>
          <a:xfrm>
            <a:off x="1874520" y="3520440"/>
            <a:ext cx="3017520" cy="420624"/>
          </a:xfrm>
          <a:prstGeom prst="rect">
            <a:avLst/>
          </a:prstGeom>
          <a:noFill/>
          <a:ln/>
        </p:spPr>
        <p:txBody>
          <a:bodyPr wrap="square" lIns="0" tIns="0" rIns="0" bIns="0" rtlCol="0" anchor="ctr"/>
          <a:lstStyle/>
          <a:p>
            <a:pPr indent="0" marL="0">
              <a:buNone/>
            </a:pPr>
            <a:r>
              <a:rPr lang="en-US" sz="1000" dirty="0">
                <a:solidFill>
                  <a:schemeClr val="tx1"/>
                </a:solidFill>
              </a:rPr>
              <a:t>MerchantOrderFulfillments, RiderDeliveries</a:t>
            </a:r>
            <a:endParaRPr lang="en-US" sz="1000" dirty="0"/>
          </a:p>
        </p:txBody>
      </p:sp>
      <p:sp>
        <p:nvSpPr>
          <p:cNvPr id="27" name="Governance group"/>
          <p:cNvSpPr/>
          <p:nvPr/>
        </p:nvSpPr>
        <p:spPr>
          <a:xfrm>
            <a:off x="457200" y="4005072"/>
            <a:ext cx="1234440" cy="411480"/>
          </a:xfrm>
          <a:prstGeom prst="roundRect">
            <a:avLst>
              <a:gd name="adj" fmla="val 13333"/>
            </a:avLst>
          </a:prstGeom>
          <a:solidFill>
            <a:schemeClr val="accent6"/>
          </a:solidFill>
          <a:ln w="12700">
            <a:solidFill>
              <a:schemeClr val="accent6"/>
            </a:solidFill>
            <a:prstDash val="solid"/>
          </a:ln>
        </p:spPr>
      </p:sp>
      <p:sp>
        <p:nvSpPr>
          <p:cNvPr id="28" name="Governance group label"/>
          <p:cNvSpPr txBox="1"/>
          <p:nvPr/>
        </p:nvSpPr>
        <p:spPr>
          <a:xfrm>
            <a:off x="457200" y="4005072"/>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Governance</a:t>
            </a:r>
            <a:endParaRPr lang="en-US" sz="1200" dirty="0"/>
          </a:p>
        </p:txBody>
      </p:sp>
      <p:sp>
        <p:nvSpPr>
          <p:cNvPr id="29" name="Governance tables card"/>
          <p:cNvSpPr/>
          <p:nvPr/>
        </p:nvSpPr>
        <p:spPr>
          <a:xfrm>
            <a:off x="1783080" y="4005072"/>
            <a:ext cx="3154680" cy="420624"/>
          </a:xfrm>
          <a:prstGeom prst="roundRect">
            <a:avLst>
              <a:gd name="adj" fmla="val 17391"/>
            </a:avLst>
          </a:prstGeom>
          <a:solidFill>
            <a:schemeClr val="bg2"/>
          </a:solidFill>
          <a:ln w="12700">
            <a:solidFill>
              <a:schemeClr val="bg2"/>
            </a:solidFill>
            <a:prstDash val="solid"/>
          </a:ln>
        </p:spPr>
      </p:sp>
      <p:sp>
        <p:nvSpPr>
          <p:cNvPr id="30" name="Governance tables"/>
          <p:cNvSpPr txBox="1"/>
          <p:nvPr/>
        </p:nvSpPr>
        <p:spPr>
          <a:xfrm>
            <a:off x="1874520" y="4005072"/>
            <a:ext cx="3017520" cy="420624"/>
          </a:xfrm>
          <a:prstGeom prst="rect">
            <a:avLst/>
          </a:prstGeom>
          <a:noFill/>
          <a:ln/>
        </p:spPr>
        <p:txBody>
          <a:bodyPr wrap="square" lIns="0" tIns="0" rIns="0" bIns="0" rtlCol="0" anchor="ctr"/>
          <a:lstStyle/>
          <a:p>
            <a:pPr indent="0" marL="0">
              <a:buNone/>
            </a:pPr>
            <a:r>
              <a:rPr lang="en-US" sz="1000" dirty="0">
                <a:solidFill>
                  <a:schemeClr val="tx1"/>
                </a:solidFill>
              </a:rPr>
              <a:t>AuditLogs</a:t>
            </a:r>
            <a:endParaRPr lang="en-US" sz="1000" dirty="0"/>
          </a:p>
        </p:txBody>
      </p:sp>
      <p:sp>
        <p:nvSpPr>
          <p:cNvPr id="31" name="Tables note"/>
          <p:cNvSpPr txBox="1"/>
          <p:nvPr/>
        </p:nvSpPr>
        <p:spPr>
          <a:xfrm>
            <a:off x="457200" y="4572000"/>
            <a:ext cx="4572000" cy="228600"/>
          </a:xfrm>
          <a:prstGeom prst="rect">
            <a:avLst/>
          </a:prstGeom>
          <a:noFill/>
          <a:ln/>
        </p:spPr>
        <p:txBody>
          <a:bodyPr wrap="square" lIns="0" tIns="0" rIns="0" bIns="0" rtlCol="0" anchor="t"/>
          <a:lstStyle/>
          <a:p>
            <a:pPr indent="0" marL="0">
              <a:buNone/>
            </a:pPr>
            <a:r>
              <a:rPr lang="en-US" sz="1100" dirty="0">
                <a:solidFill>
                  <a:schemeClr val="tx2"/>
                </a:solidFill>
              </a:rPr>
              <a:t>19 tables; EF Core migrations build the schema from empty.</a:t>
            </a:r>
            <a:endParaRPr lang="en-US" sz="1100" dirty="0"/>
          </a:p>
        </p:txBody>
      </p:sp>
      <p:sp>
        <p:nvSpPr>
          <p:cNvPr id="32" name="Integrity card"/>
          <p:cNvSpPr/>
          <p:nvPr/>
        </p:nvSpPr>
        <p:spPr>
          <a:xfrm>
            <a:off x="5120640" y="1097280"/>
            <a:ext cx="3566160" cy="3474720"/>
          </a:xfrm>
          <a:prstGeom prst="roundRect">
            <a:avLst>
              <a:gd name="adj" fmla="val 2105"/>
            </a:avLst>
          </a:prstGeom>
          <a:solidFill>
            <a:schemeClr val="bg2"/>
          </a:solidFill>
          <a:ln w="12700">
            <a:solidFill>
              <a:schemeClr val="bg2"/>
            </a:solidFill>
            <a:prstDash val="solid"/>
          </a:ln>
        </p:spPr>
      </p:sp>
      <p:sp>
        <p:nvSpPr>
          <p:cNvPr id="33" name="Integrity heading"/>
          <p:cNvSpPr txBox="1"/>
          <p:nvPr/>
        </p:nvSpPr>
        <p:spPr>
          <a:xfrm>
            <a:off x="5303520" y="1188720"/>
            <a:ext cx="3200400" cy="320040"/>
          </a:xfrm>
          <a:prstGeom prst="rect">
            <a:avLst/>
          </a:prstGeom>
          <a:noFill/>
          <a:ln/>
        </p:spPr>
        <p:txBody>
          <a:bodyPr wrap="square" lIns="0" tIns="0" rIns="0" bIns="0" rtlCol="0" anchor="t"/>
          <a:lstStyle/>
          <a:p>
            <a:pPr indent="0" marL="0">
              <a:buNone/>
            </a:pPr>
            <a:r>
              <a:rPr lang="en-US" sz="1500" b="1" dirty="0">
                <a:solidFill>
                  <a:schemeClr val="accent1"/>
                </a:solidFill>
              </a:rPr>
              <a:t>Rules the database enforces</a:t>
            </a:r>
            <a:endParaRPr lang="en-US" sz="1500" dirty="0"/>
          </a:p>
        </p:txBody>
      </p:sp>
      <p:sp>
        <p:nvSpPr>
          <p:cNvPr id="34" name="Integrity points"/>
          <p:cNvSpPr txBox="1"/>
          <p:nvPr/>
        </p:nvSpPr>
        <p:spPr>
          <a:xfrm>
            <a:off x="5303520" y="1600200"/>
            <a:ext cx="3246120" cy="29260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Unique (UserId, IdempotencyKey) on Payments: one charge per request</a:t>
            </a:r>
            <a:endParaRPr lang="en-US" sz="1200" dirty="0"/>
          </a:p>
          <a:p>
            <a:pPr marL="177800" indent="-177800">
              <a:spcAft>
                <a:spcPts val="500"/>
              </a:spcAft>
              <a:buSzPct val="100000"/>
              <a:buChar char="•"/>
            </a:pPr>
            <a:r>
              <a:rPr lang="en-US" sz="1200" dirty="0">
                <a:solidFill>
                  <a:schemeClr val="tx1"/>
                </a:solidFill>
              </a:rPr>
              <a:t>Unique OrderId on Payments and on RiderDeliveries: one payment, one rider per order</a:t>
            </a:r>
            <a:endParaRPr lang="en-US" sz="1200" dirty="0"/>
          </a:p>
          <a:p>
            <a:pPr marL="177800" indent="-177800">
              <a:spcAft>
                <a:spcPts val="500"/>
              </a:spcAft>
              <a:buSzPct val="100000"/>
              <a:buChar char="•"/>
            </a:pPr>
            <a:r>
              <a:rPr lang="en-US" sz="1200" dirty="0">
                <a:solidFill>
                  <a:schemeClr val="tx1"/>
                </a:solidFill>
              </a:rPr>
              <a:t>CHECK inventory &gt;= 0 and reservation quantity &gt; 0: no overselling</a:t>
            </a:r>
            <a:endParaRPr lang="en-US" sz="1200" dirty="0"/>
          </a:p>
          <a:p>
            <a:pPr marL="177800" indent="-177800">
              <a:spcAft>
                <a:spcPts val="500"/>
              </a:spcAft>
              <a:buSzPct val="100000"/>
              <a:buChar char="•"/>
            </a:pPr>
            <a:r>
              <a:rPr lang="en-US" sz="1200" dirty="0">
                <a:solidFill>
                  <a:schemeClr val="tx1"/>
                </a:solidFill>
              </a:rPr>
              <a:t>CHECK used &lt;= issued on customer coupons</a:t>
            </a:r>
            <a:endParaRPr lang="en-US" sz="1200" dirty="0"/>
          </a:p>
          <a:p>
            <a:pPr marL="177800" indent="-177800">
              <a:spcAft>
                <a:spcPts val="500"/>
              </a:spcAft>
              <a:buSzPct val="100000"/>
              <a:buChar char="•"/>
            </a:pPr>
            <a:r>
              <a:rPr lang="en-US" sz="1200" dirty="0">
                <a:solidFill>
                  <a:schemeClr val="tx1"/>
                </a:solidFill>
              </a:rPr>
              <a:t>Unique username, coupon code, (Role, ProfileId)</a:t>
            </a:r>
            <a:endParaRPr lang="en-US" sz="1200" dirty="0"/>
          </a:p>
          <a:p>
            <a:pPr marL="177800" indent="-177800">
              <a:spcAft>
                <a:spcPts val="500"/>
              </a:spcAft>
              <a:buSzPct val="100000"/>
              <a:buChar char="•"/>
            </a:pPr>
            <a:r>
              <a:rPr lang="en-US" sz="1200" dirty="0">
                <a:solidFill>
                  <a:schemeClr val="tx1"/>
                </a:solidFill>
              </a:rPr>
              <a:t>Money is decimal, rounded in one place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Representative use case: checkout</a:t>
            </a:r>
            <a:endParaRPr lang="en-US" sz="3000" dirty="0"/>
          </a:p>
        </p:txBody>
      </p:sp>
      <p:sp>
        <p:nvSpPr>
          <p:cNvPr id="3" name="Transaction band"/>
          <p:cNvSpPr/>
          <p:nvPr/>
        </p:nvSpPr>
        <p:spPr>
          <a:xfrm>
            <a:off x="2743200" y="1645920"/>
            <a:ext cx="6217920" cy="2560320"/>
          </a:xfrm>
          <a:prstGeom prst="roundRect">
            <a:avLst>
              <a:gd name="adj" fmla="val 1786"/>
            </a:avLst>
          </a:prstGeom>
          <a:solidFill>
            <a:schemeClr val="bg2"/>
          </a:solidFill>
          <a:ln w="12700">
            <a:solidFill>
              <a:schemeClr val="accent5"/>
            </a:solidFill>
            <a:prstDash val="dash"/>
          </a:ln>
        </p:spPr>
      </p:sp>
      <p:sp>
        <p:nvSpPr>
          <p:cNvPr id="4" name="Transaction label"/>
          <p:cNvSpPr txBox="1"/>
          <p:nvPr/>
        </p:nvSpPr>
        <p:spPr>
          <a:xfrm>
            <a:off x="6949440" y="1664208"/>
            <a:ext cx="1920240" cy="201168"/>
          </a:xfrm>
          <a:prstGeom prst="rect">
            <a:avLst/>
          </a:prstGeom>
          <a:noFill/>
          <a:ln/>
        </p:spPr>
        <p:txBody>
          <a:bodyPr wrap="square" lIns="0" tIns="0" rIns="0" bIns="0" rtlCol="0" anchor="t"/>
          <a:lstStyle/>
          <a:p>
            <a:pPr algn="r" indent="0" marL="0">
              <a:buNone/>
            </a:pPr>
            <a:r>
              <a:rPr lang="en-US" sz="1000" i="1" dirty="0">
                <a:solidFill>
                  <a:schemeClr val="tx2"/>
                </a:solidFill>
              </a:rPr>
              <a:t>one database transaction</a:t>
            </a:r>
            <a:endParaRPr lang="en-US" sz="1000" dirty="0"/>
          </a:p>
        </p:txBody>
      </p:sp>
      <p:sp>
        <p:nvSpPr>
          <p:cNvPr id="5" name="Customer app head"/>
          <p:cNvSpPr txBox="1"/>
          <p:nvPr/>
        </p:nvSpPr>
        <p:spPr>
          <a:xfrm>
            <a:off x="30175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Customer app</a:t>
            </a:r>
            <a:endParaRPr lang="en-US" sz="1100" dirty="0"/>
          </a:p>
        </p:txBody>
      </p:sp>
      <p:sp>
        <p:nvSpPr>
          <p:cNvPr id="6" name="Customer app lifeline"/>
          <p:cNvSpPr/>
          <p:nvPr/>
        </p:nvSpPr>
        <p:spPr>
          <a:xfrm>
            <a:off x="868680" y="1463040"/>
            <a:ext cx="0" cy="2743200"/>
          </a:xfrm>
          <a:prstGeom prst="line">
            <a:avLst/>
          </a:prstGeom>
          <a:noFill/>
          <a:ln w="12700">
            <a:solidFill>
              <a:schemeClr val="accent5"/>
            </a:solidFill>
            <a:prstDash val="dash"/>
          </a:ln>
        </p:spPr>
      </p:sp>
      <p:sp>
        <p:nvSpPr>
          <p:cNvPr id="7" name="Checkout head"/>
          <p:cNvSpPr txBox="1"/>
          <p:nvPr/>
        </p:nvSpPr>
        <p:spPr>
          <a:xfrm>
            <a:off x="281635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Checkout</a:t>
            </a:r>
            <a:endParaRPr lang="en-US" sz="1100" dirty="0"/>
          </a:p>
        </p:txBody>
      </p:sp>
      <p:sp>
        <p:nvSpPr>
          <p:cNvPr id="8" name="Checkout lifeline"/>
          <p:cNvSpPr/>
          <p:nvPr/>
        </p:nvSpPr>
        <p:spPr>
          <a:xfrm>
            <a:off x="3383280" y="1463040"/>
            <a:ext cx="0" cy="2743200"/>
          </a:xfrm>
          <a:prstGeom prst="line">
            <a:avLst/>
          </a:prstGeom>
          <a:noFill/>
          <a:ln w="12700">
            <a:solidFill>
              <a:schemeClr val="accent5"/>
            </a:solidFill>
            <a:prstDash val="dash"/>
          </a:ln>
        </p:spPr>
      </p:sp>
      <p:sp>
        <p:nvSpPr>
          <p:cNvPr id="9" name="Pricing head"/>
          <p:cNvSpPr txBox="1"/>
          <p:nvPr/>
        </p:nvSpPr>
        <p:spPr>
          <a:xfrm>
            <a:off x="437083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Pricing</a:t>
            </a:r>
            <a:endParaRPr lang="en-US" sz="1100" dirty="0"/>
          </a:p>
        </p:txBody>
      </p:sp>
      <p:sp>
        <p:nvSpPr>
          <p:cNvPr id="10" name="Pricing lifeline"/>
          <p:cNvSpPr/>
          <p:nvPr/>
        </p:nvSpPr>
        <p:spPr>
          <a:xfrm>
            <a:off x="4937760" y="1463040"/>
            <a:ext cx="0" cy="2743200"/>
          </a:xfrm>
          <a:prstGeom prst="line">
            <a:avLst/>
          </a:prstGeom>
          <a:noFill/>
          <a:ln w="12700">
            <a:solidFill>
              <a:schemeClr val="accent5"/>
            </a:solidFill>
            <a:prstDash val="dash"/>
          </a:ln>
        </p:spPr>
      </p:sp>
      <p:sp>
        <p:nvSpPr>
          <p:cNvPr id="11" name="Inventory head"/>
          <p:cNvSpPr txBox="1"/>
          <p:nvPr/>
        </p:nvSpPr>
        <p:spPr>
          <a:xfrm>
            <a:off x="565099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Inventory</a:t>
            </a:r>
            <a:endParaRPr lang="en-US" sz="1100" dirty="0"/>
          </a:p>
        </p:txBody>
      </p:sp>
      <p:sp>
        <p:nvSpPr>
          <p:cNvPr id="12" name="Inventory lifeline"/>
          <p:cNvSpPr/>
          <p:nvPr/>
        </p:nvSpPr>
        <p:spPr>
          <a:xfrm>
            <a:off x="6217920" y="1463040"/>
            <a:ext cx="0" cy="2743200"/>
          </a:xfrm>
          <a:prstGeom prst="line">
            <a:avLst/>
          </a:prstGeom>
          <a:noFill/>
          <a:ln w="12700">
            <a:solidFill>
              <a:schemeClr val="accent5"/>
            </a:solidFill>
            <a:prstDash val="dash"/>
          </a:ln>
        </p:spPr>
      </p:sp>
      <p:sp>
        <p:nvSpPr>
          <p:cNvPr id="13" name="Payment gateway head"/>
          <p:cNvSpPr txBox="1"/>
          <p:nvPr/>
        </p:nvSpPr>
        <p:spPr>
          <a:xfrm>
            <a:off x="711403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Payment gateway</a:t>
            </a:r>
            <a:endParaRPr lang="en-US" sz="1100" dirty="0"/>
          </a:p>
        </p:txBody>
      </p:sp>
      <p:sp>
        <p:nvSpPr>
          <p:cNvPr id="14" name="Payment gateway lifeline"/>
          <p:cNvSpPr/>
          <p:nvPr/>
        </p:nvSpPr>
        <p:spPr>
          <a:xfrm>
            <a:off x="7680960" y="1463040"/>
            <a:ext cx="0" cy="2743200"/>
          </a:xfrm>
          <a:prstGeom prst="line">
            <a:avLst/>
          </a:prstGeom>
          <a:noFill/>
          <a:ln w="12700">
            <a:solidFill>
              <a:schemeClr val="accent5"/>
            </a:solidFill>
            <a:prstDash val="dash"/>
          </a:ln>
        </p:spPr>
      </p:sp>
      <p:sp>
        <p:nvSpPr>
          <p:cNvPr id="15" name="Step 1 arrow"/>
          <p:cNvSpPr/>
          <p:nvPr/>
        </p:nvSpPr>
        <p:spPr>
          <a:xfrm>
            <a:off x="868680" y="1965960"/>
            <a:ext cx="2514600" cy="0"/>
          </a:xfrm>
          <a:prstGeom prst="line">
            <a:avLst/>
          </a:prstGeom>
          <a:noFill/>
          <a:ln w="19050">
            <a:solidFill>
              <a:schemeClr val="tx1"/>
            </a:solidFill>
            <a:prstDash val="solid"/>
            <a:tailEnd type="triangle"/>
          </a:ln>
        </p:spPr>
      </p:sp>
      <p:sp>
        <p:nvSpPr>
          <p:cNvPr id="16" name="Step 1 label"/>
          <p:cNvSpPr txBox="1"/>
          <p:nvPr/>
        </p:nvSpPr>
        <p:spPr>
          <a:xfrm>
            <a:off x="941832" y="1746504"/>
            <a:ext cx="2423160" cy="201168"/>
          </a:xfrm>
          <a:prstGeom prst="rect">
            <a:avLst/>
          </a:prstGeom>
          <a:noFill/>
          <a:ln/>
        </p:spPr>
        <p:txBody>
          <a:bodyPr wrap="square" lIns="0" tIns="0" rIns="0" bIns="0" rtlCol="0" anchor="t"/>
          <a:lstStyle/>
          <a:p>
            <a:pPr algn="l" indent="0" marL="0">
              <a:buNone/>
            </a:pPr>
            <a:r>
              <a:rPr lang="en-US" sz="1000" dirty="0">
                <a:solidFill>
                  <a:schemeClr val="tx1"/>
                </a:solidFill>
              </a:rPr>
              <a:t>1  POST /api/checkout + Idempotency-Key</a:t>
            </a:r>
            <a:endParaRPr lang="en-US" sz="1000" dirty="0"/>
          </a:p>
        </p:txBody>
      </p:sp>
      <p:sp>
        <p:nvSpPr>
          <p:cNvPr id="17" name="Step 2 arrow"/>
          <p:cNvSpPr/>
          <p:nvPr/>
        </p:nvSpPr>
        <p:spPr>
          <a:xfrm>
            <a:off x="3383280" y="2286000"/>
            <a:ext cx="1554480" cy="0"/>
          </a:xfrm>
          <a:prstGeom prst="line">
            <a:avLst/>
          </a:prstGeom>
          <a:noFill/>
          <a:ln w="19050">
            <a:solidFill>
              <a:schemeClr val="tx1"/>
            </a:solidFill>
            <a:prstDash val="solid"/>
            <a:tailEnd type="triangle"/>
          </a:ln>
        </p:spPr>
      </p:sp>
      <p:sp>
        <p:nvSpPr>
          <p:cNvPr id="18" name="Step 2 label"/>
          <p:cNvSpPr txBox="1"/>
          <p:nvPr/>
        </p:nvSpPr>
        <p:spPr>
          <a:xfrm>
            <a:off x="3456432" y="2066544"/>
            <a:ext cx="1463040" cy="201168"/>
          </a:xfrm>
          <a:prstGeom prst="rect">
            <a:avLst/>
          </a:prstGeom>
          <a:noFill/>
          <a:ln/>
        </p:spPr>
        <p:txBody>
          <a:bodyPr wrap="square" lIns="0" tIns="0" rIns="0" bIns="0" rtlCol="0" anchor="t"/>
          <a:lstStyle/>
          <a:p>
            <a:pPr algn="l" indent="0" marL="0">
              <a:buNone/>
            </a:pPr>
            <a:r>
              <a:rPr lang="en-US" sz="1000" dirty="0">
                <a:solidFill>
                  <a:schemeClr val="tx1"/>
                </a:solidFill>
              </a:rPr>
              <a:t>2  quote(cart, coupon)</a:t>
            </a:r>
            <a:endParaRPr lang="en-US" sz="1000" dirty="0"/>
          </a:p>
        </p:txBody>
      </p:sp>
      <p:sp>
        <p:nvSpPr>
          <p:cNvPr id="19" name="Step 3"/>
          <p:cNvSpPr txBox="1"/>
          <p:nvPr/>
        </p:nvSpPr>
        <p:spPr>
          <a:xfrm>
            <a:off x="3291840" y="2468880"/>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3  claim the cart (atomic delete)</a:t>
            </a:r>
            <a:endParaRPr lang="en-US" sz="1000" dirty="0"/>
          </a:p>
        </p:txBody>
      </p:sp>
      <p:sp>
        <p:nvSpPr>
          <p:cNvPr id="20" name="Step 4"/>
          <p:cNvSpPr txBox="1"/>
          <p:nvPr/>
        </p:nvSpPr>
        <p:spPr>
          <a:xfrm>
            <a:off x="3291840" y="2816352"/>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4  create order, use coupon</a:t>
            </a:r>
            <a:endParaRPr lang="en-US" sz="1000" dirty="0"/>
          </a:p>
        </p:txBody>
      </p:sp>
      <p:sp>
        <p:nvSpPr>
          <p:cNvPr id="21" name="Step 5 arrow"/>
          <p:cNvSpPr/>
          <p:nvPr/>
        </p:nvSpPr>
        <p:spPr>
          <a:xfrm>
            <a:off x="3383280" y="3364992"/>
            <a:ext cx="2834640" cy="0"/>
          </a:xfrm>
          <a:prstGeom prst="line">
            <a:avLst/>
          </a:prstGeom>
          <a:noFill/>
          <a:ln w="19050">
            <a:solidFill>
              <a:schemeClr val="tx1"/>
            </a:solidFill>
            <a:prstDash val="solid"/>
            <a:tailEnd type="triangle"/>
          </a:ln>
        </p:spPr>
      </p:sp>
      <p:sp>
        <p:nvSpPr>
          <p:cNvPr id="22" name="Step 5 label"/>
          <p:cNvSpPr txBox="1"/>
          <p:nvPr/>
        </p:nvSpPr>
        <p:spPr>
          <a:xfrm>
            <a:off x="3456432" y="3145536"/>
            <a:ext cx="2743200" cy="201168"/>
          </a:xfrm>
          <a:prstGeom prst="rect">
            <a:avLst/>
          </a:prstGeom>
          <a:noFill/>
          <a:ln/>
        </p:spPr>
        <p:txBody>
          <a:bodyPr wrap="square" lIns="0" tIns="0" rIns="0" bIns="0" rtlCol="0" anchor="t"/>
          <a:lstStyle/>
          <a:p>
            <a:pPr algn="l" indent="0" marL="0">
              <a:buNone/>
            </a:pPr>
            <a:r>
              <a:rPr lang="en-US" sz="1000" dirty="0">
                <a:solidFill>
                  <a:schemeClr val="tx1"/>
                </a:solidFill>
              </a:rPr>
              <a:t>5  reserve stock</a:t>
            </a:r>
            <a:endParaRPr lang="en-US" sz="1000" dirty="0"/>
          </a:p>
        </p:txBody>
      </p:sp>
      <p:sp>
        <p:nvSpPr>
          <p:cNvPr id="23" name="Step 6 arrow"/>
          <p:cNvSpPr/>
          <p:nvPr/>
        </p:nvSpPr>
        <p:spPr>
          <a:xfrm>
            <a:off x="3383280" y="3657600"/>
            <a:ext cx="4297680" cy="0"/>
          </a:xfrm>
          <a:prstGeom prst="line">
            <a:avLst/>
          </a:prstGeom>
          <a:noFill/>
          <a:ln w="19050">
            <a:solidFill>
              <a:schemeClr val="tx1"/>
            </a:solidFill>
            <a:prstDash val="solid"/>
            <a:tailEnd type="triangle"/>
          </a:ln>
        </p:spPr>
      </p:sp>
      <p:sp>
        <p:nvSpPr>
          <p:cNvPr id="24" name="Step 6 label"/>
          <p:cNvSpPr txBox="1"/>
          <p:nvPr/>
        </p:nvSpPr>
        <p:spPr>
          <a:xfrm>
            <a:off x="3456432" y="3438144"/>
            <a:ext cx="4206240" cy="201168"/>
          </a:xfrm>
          <a:prstGeom prst="rect">
            <a:avLst/>
          </a:prstGeom>
          <a:noFill/>
          <a:ln/>
        </p:spPr>
        <p:txBody>
          <a:bodyPr wrap="square" lIns="0" tIns="0" rIns="0" bIns="0" rtlCol="0" anchor="t"/>
          <a:lstStyle/>
          <a:p>
            <a:pPr algn="l" indent="0" marL="0">
              <a:buNone/>
            </a:pPr>
            <a:r>
              <a:rPr lang="en-US" sz="1000" dirty="0">
                <a:solidFill>
                  <a:schemeClr val="tx1"/>
                </a:solidFill>
              </a:rPr>
              <a:t>6  charge total</a:t>
            </a:r>
            <a:endParaRPr lang="en-US" sz="1000" dirty="0"/>
          </a:p>
        </p:txBody>
      </p:sp>
      <p:sp>
        <p:nvSpPr>
          <p:cNvPr id="25" name="Step 7"/>
          <p:cNvSpPr txBox="1"/>
          <p:nvPr/>
        </p:nvSpPr>
        <p:spPr>
          <a:xfrm>
            <a:off x="3291840" y="3822192"/>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7  mark Paid, store payment, commit</a:t>
            </a:r>
            <a:endParaRPr lang="en-US" sz="1000" dirty="0"/>
          </a:p>
        </p:txBody>
      </p:sp>
      <p:sp>
        <p:nvSpPr>
          <p:cNvPr id="26" name="Step 8 arrow"/>
          <p:cNvSpPr/>
          <p:nvPr/>
        </p:nvSpPr>
        <p:spPr>
          <a:xfrm flipH="1">
            <a:off x="868680" y="4160520"/>
            <a:ext cx="2514600" cy="0"/>
          </a:xfrm>
          <a:prstGeom prst="line">
            <a:avLst/>
          </a:prstGeom>
          <a:noFill/>
          <a:ln w="19050">
            <a:solidFill>
              <a:schemeClr val="accent3"/>
            </a:solidFill>
            <a:prstDash val="dash"/>
            <a:tailEnd type="triangle"/>
          </a:ln>
        </p:spPr>
      </p:sp>
      <p:sp>
        <p:nvSpPr>
          <p:cNvPr id="27" name="Step 8 label"/>
          <p:cNvSpPr txBox="1"/>
          <p:nvPr/>
        </p:nvSpPr>
        <p:spPr>
          <a:xfrm>
            <a:off x="941832" y="3941064"/>
            <a:ext cx="2423160" cy="201168"/>
          </a:xfrm>
          <a:prstGeom prst="rect">
            <a:avLst/>
          </a:prstGeom>
          <a:noFill/>
          <a:ln/>
        </p:spPr>
        <p:txBody>
          <a:bodyPr wrap="square" lIns="0" tIns="0" rIns="0" bIns="0" rtlCol="0" anchor="t"/>
          <a:lstStyle/>
          <a:p>
            <a:pPr algn="ctr" indent="0" marL="0">
              <a:buNone/>
            </a:pPr>
            <a:r>
              <a:rPr lang="en-US" sz="1000" dirty="0">
                <a:solidFill>
                  <a:schemeClr val="tx1"/>
                </a:solidFill>
              </a:rPr>
              <a:t>8  201 Created</a:t>
            </a:r>
            <a:endParaRPr lang="en-US" sz="1000" dirty="0"/>
          </a:p>
        </p:txBody>
      </p:sp>
      <p:sp>
        <p:nvSpPr>
          <p:cNvPr id="28" name="Failure note card"/>
          <p:cNvSpPr/>
          <p:nvPr/>
        </p:nvSpPr>
        <p:spPr>
          <a:xfrm>
            <a:off x="457200" y="4279392"/>
            <a:ext cx="8229600" cy="411480"/>
          </a:xfrm>
          <a:prstGeom prst="roundRect">
            <a:avLst>
              <a:gd name="adj" fmla="val 17778"/>
            </a:avLst>
          </a:prstGeom>
          <a:solidFill>
            <a:schemeClr val="accent1"/>
          </a:solidFill>
          <a:ln w="12700">
            <a:solidFill>
              <a:schemeClr val="accent1"/>
            </a:solidFill>
            <a:prstDash val="solid"/>
          </a:ln>
        </p:spPr>
      </p:sp>
      <p:sp>
        <p:nvSpPr>
          <p:cNvPr id="29" name="Failure note"/>
          <p:cNvSpPr txBox="1"/>
          <p:nvPr/>
        </p:nvSpPr>
        <p:spPr>
          <a:xfrm>
            <a:off x="594360" y="4279392"/>
            <a:ext cx="7955280" cy="411480"/>
          </a:xfrm>
          <a:prstGeom prst="rect">
            <a:avLst/>
          </a:prstGeom>
          <a:noFill/>
          <a:ln/>
        </p:spPr>
        <p:txBody>
          <a:bodyPr wrap="square" lIns="0" tIns="0" rIns="0" bIns="0" rtlCol="0" anchor="ctr"/>
          <a:lstStyle/>
          <a:p>
            <a:pPr indent="0" marL="0">
              <a:buNone/>
            </a:pPr>
            <a:r>
              <a:rPr lang="en-US" sz="1200" b="1" dirty="0">
                <a:solidFill>
                  <a:schemeClr val="bg1"/>
                </a:solidFill>
              </a:rPr>
              <a:t>Declined payment, no stock or any error at steps 2 to 6: ROLLBACK. Cart, stock and coupon are exactly as before (402 / 400).</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What checkout guarantees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3749040"/>
                <a:gridCol w="1737360"/>
              </a:tblGrid>
              <a:tr h="365760">
                <a:tc>
                  <a:txBody>
                    <a:bodyPr/>
                    <a:lstStyle/>
                    <a:p>
                      <a:pPr indent="0" marL="0">
                        <a:buNone/>
                      </a:pPr>
                      <a:r>
                        <a:rPr lang="en-US" sz="1300" b="1" dirty="0">
                          <a:solidFill>
                            <a:schemeClr val="bg1"/>
                          </a:solidFill>
                        </a:rPr>
                        <a:t>If this happens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The system does this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Checked by</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30352">
                <a:tc>
                  <a:txBody>
                    <a:bodyPr/>
                    <a:lstStyle/>
                    <a:p>
                      <a:pPr indent="0" marL="0">
                        <a:buNone/>
                      </a:pPr>
                      <a:r>
                        <a:rPr lang="en-US" sz="1200" b="1" dirty="0">
                          <a:solidFill>
                            <a:srgbClr val="000000"/>
                          </a:solidFill>
                        </a:rPr>
                        <a:t>Client sends a lower price or another user id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Ignores them: server prices the cart; identity from the JWT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Same request sent twice (retry, double click)</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Returns the stored order; no second charge or stock change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Two checkouts race for the same cart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Atomic cart claim; the loser gets a conflict or the winner's result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PostgreSQL parallel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Last unit is wanted twice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Reservation fails; CHECK constraint backs it up</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Inventory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Payment is declined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Full rollback; 402; stock, cart and coupon unchanged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Coupon used again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Per-customer allocation is consumed once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Source code and artifacts</a:t>
            </a:r>
            <a:endParaRPr lang="en-US" sz="3000" dirty="0"/>
          </a:p>
        </p:txBody>
      </p:sp>
      <p:sp>
        <p:nvSpPr>
          <p:cNvPr id="3" name="Flow 1"/>
          <p:cNvSpPr txBox="1"/>
          <p:nvPr/>
        </p:nvSpPr>
        <p:spPr>
          <a:xfrm>
            <a:off x="457200" y="1143000"/>
            <a:ext cx="1783080" cy="685800"/>
          </a:xfrm>
          <a:prstGeom prst="roundRect">
            <a:avLst>
              <a:gd name="adj" fmla="val 8000"/>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feat/* branch</a:t>
            </a:r>
            <a:endParaRPr lang="en-US" sz="1200" dirty="0"/>
          </a:p>
        </p:txBody>
      </p:sp>
      <p:sp>
        <p:nvSpPr>
          <p:cNvPr id="4" name="Flow link 1"/>
          <p:cNvSpPr/>
          <p:nvPr/>
        </p:nvSpPr>
        <p:spPr>
          <a:xfrm>
            <a:off x="2240280" y="1485900"/>
            <a:ext cx="365760" cy="0"/>
          </a:xfrm>
          <a:prstGeom prst="line">
            <a:avLst/>
          </a:prstGeom>
          <a:noFill/>
          <a:ln w="19050">
            <a:solidFill>
              <a:schemeClr val="tx2"/>
            </a:solidFill>
            <a:prstDash val="solid"/>
            <a:tailEnd type="triangle"/>
          </a:ln>
        </p:spPr>
      </p:sp>
      <p:sp>
        <p:nvSpPr>
          <p:cNvPr id="5" name="Flow 2"/>
          <p:cNvSpPr txBox="1"/>
          <p:nvPr/>
        </p:nvSpPr>
        <p:spPr>
          <a:xfrm>
            <a:off x="2606040" y="1143000"/>
            <a:ext cx="1783080" cy="685800"/>
          </a:xfrm>
          <a:prstGeom prst="roundRect">
            <a:avLst>
              <a:gd name="adj" fmla="val 8000"/>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Pull request</a:t>
            </a:r>
            <a:endParaRPr lang="en-US" sz="1200" dirty="0"/>
          </a:p>
          <a:p>
            <a:pPr algn="ctr" indent="0" marL="0">
              <a:buNone/>
            </a:pPr>
            <a:r>
              <a:rPr lang="en-US" sz="1200" b="1" dirty="0">
                <a:solidFill>
                  <a:schemeClr val="bg1"/>
                </a:solidFill>
              </a:rPr>
              <a:t>1 approval + checks</a:t>
            </a:r>
            <a:endParaRPr lang="en-US" sz="1200" dirty="0"/>
          </a:p>
        </p:txBody>
      </p:sp>
      <p:sp>
        <p:nvSpPr>
          <p:cNvPr id="6" name="Flow link 2"/>
          <p:cNvSpPr/>
          <p:nvPr/>
        </p:nvSpPr>
        <p:spPr>
          <a:xfrm>
            <a:off x="4389120" y="1485900"/>
            <a:ext cx="365760" cy="0"/>
          </a:xfrm>
          <a:prstGeom prst="line">
            <a:avLst/>
          </a:prstGeom>
          <a:noFill/>
          <a:ln w="19050">
            <a:solidFill>
              <a:schemeClr val="tx2"/>
            </a:solidFill>
            <a:prstDash val="solid"/>
            <a:tailEnd type="triangle"/>
          </a:ln>
        </p:spPr>
      </p:sp>
      <p:sp>
        <p:nvSpPr>
          <p:cNvPr id="7" name="Flow 3"/>
          <p:cNvSpPr txBox="1"/>
          <p:nvPr/>
        </p:nvSpPr>
        <p:spPr>
          <a:xfrm>
            <a:off x="4754880" y="1143000"/>
            <a:ext cx="1783080" cy="685800"/>
          </a:xfrm>
          <a:prstGeom prst="roundRect">
            <a:avLst>
              <a:gd name="adj" fmla="val 8000"/>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tx1"/>
                </a:solidFill>
              </a:rPr>
              <a:t>Squash merge</a:t>
            </a:r>
            <a:endParaRPr lang="en-US" sz="1200" dirty="0"/>
          </a:p>
        </p:txBody>
      </p:sp>
      <p:sp>
        <p:nvSpPr>
          <p:cNvPr id="8" name="Flow link 3"/>
          <p:cNvSpPr/>
          <p:nvPr/>
        </p:nvSpPr>
        <p:spPr>
          <a:xfrm>
            <a:off x="6537960" y="1485900"/>
            <a:ext cx="365760" cy="0"/>
          </a:xfrm>
          <a:prstGeom prst="line">
            <a:avLst/>
          </a:prstGeom>
          <a:noFill/>
          <a:ln w="19050">
            <a:solidFill>
              <a:schemeClr val="tx2"/>
            </a:solidFill>
            <a:prstDash val="solid"/>
            <a:tailEnd type="triangle"/>
          </a:ln>
        </p:spPr>
      </p:sp>
      <p:sp>
        <p:nvSpPr>
          <p:cNvPr id="9" name="Flow 4"/>
          <p:cNvSpPr txBox="1"/>
          <p:nvPr/>
        </p:nvSpPr>
        <p:spPr>
          <a:xfrm>
            <a:off x="6903720" y="1143000"/>
            <a:ext cx="1783080" cy="685800"/>
          </a:xfrm>
          <a:prstGeom prst="roundRect">
            <a:avLst>
              <a:gd name="adj" fmla="val 8000"/>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main</a:t>
            </a:r>
            <a:endParaRPr lang="en-US" sz="1200" dirty="0"/>
          </a:p>
          <a:p>
            <a:pPr algn="ctr" indent="0" marL="0">
              <a:buNone/>
            </a:pPr>
            <a:r>
              <a:rPr lang="en-US" sz="1200" b="1" dirty="0">
                <a:solidFill>
                  <a:schemeClr val="bg1"/>
                </a:solidFill>
              </a:rPr>
              <a:t>always releasable</a:t>
            </a:r>
            <a:endParaRPr lang="en-US" sz="1200" dirty="0"/>
          </a:p>
        </p:txBody>
      </p:sp>
      <p:sp>
        <p:nvSpPr>
          <p:cNvPr id="10" name="Source card"/>
          <p:cNvSpPr/>
          <p:nvPr/>
        </p:nvSpPr>
        <p:spPr>
          <a:xfrm>
            <a:off x="457200" y="2103120"/>
            <a:ext cx="4023360" cy="2468880"/>
          </a:xfrm>
          <a:prstGeom prst="roundRect">
            <a:avLst>
              <a:gd name="adj" fmla="val 2963"/>
            </a:avLst>
          </a:prstGeom>
          <a:solidFill>
            <a:schemeClr val="bg2"/>
          </a:solidFill>
          <a:ln w="12700">
            <a:solidFill>
              <a:schemeClr val="bg2"/>
            </a:solidFill>
            <a:prstDash val="solid"/>
          </a:ln>
        </p:spPr>
      </p:sp>
      <p:sp>
        <p:nvSpPr>
          <p:cNvPr id="11" name="Source heading"/>
          <p:cNvSpPr txBox="1"/>
          <p:nvPr/>
        </p:nvSpPr>
        <p:spPr>
          <a:xfrm>
            <a:off x="640080" y="219456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Source code</a:t>
            </a:r>
            <a:endParaRPr lang="en-US" sz="1600" dirty="0"/>
          </a:p>
        </p:txBody>
      </p:sp>
      <p:sp>
        <p:nvSpPr>
          <p:cNvPr id="12" name="Source points"/>
          <p:cNvSpPr txBox="1"/>
          <p:nvPr/>
        </p:nvSpPr>
        <p:spPr>
          <a:xfrm>
            <a:off x="640080" y="260604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Protected main; short-lived feat, fix, chore and docs branches</a:t>
            </a:r>
            <a:endParaRPr lang="en-US" sz="1300" dirty="0"/>
          </a:p>
          <a:p>
            <a:pPr marL="177800" indent="-177800">
              <a:spcAft>
                <a:spcPts val="600"/>
              </a:spcAft>
              <a:buSzPct val="100000"/>
              <a:buChar char="•"/>
            </a:pPr>
            <a:r>
              <a:rPr lang="en-US" sz="1300" dirty="0">
                <a:solidFill>
                  <a:schemeClr val="tx1"/>
                </a:solidFill>
              </a:rPr>
              <a:t>Conventional commit messages; small pull requests</a:t>
            </a:r>
            <a:endParaRPr lang="en-US" sz="1300" dirty="0"/>
          </a:p>
          <a:p>
            <a:pPr marL="177800" indent="-177800">
              <a:spcAft>
                <a:spcPts val="600"/>
              </a:spcAft>
              <a:buSzPct val="100000"/>
              <a:buChar char="•"/>
            </a:pPr>
            <a:r>
              <a:rPr lang="en-US" sz="1300" dirty="0">
                <a:solidFill>
                  <a:schemeClr val="tx1"/>
                </a:solidFill>
              </a:rPr>
              <a:t>API contract written before the code (docs/api-contract.md)</a:t>
            </a:r>
            <a:endParaRPr lang="en-US" sz="1300" dirty="0"/>
          </a:p>
          <a:p>
            <a:pPr marL="177800" indent="-177800">
              <a:spcAft>
                <a:spcPts val="600"/>
              </a:spcAft>
              <a:buSzPct val="100000"/>
              <a:buChar char="•"/>
            </a:pPr>
            <a:r>
              <a:rPr lang="en-US" sz="1300" dirty="0">
                <a:solidFill>
                  <a:schemeClr val="tx1"/>
                </a:solidFill>
              </a:rPr>
              <a:t>Dependabot, grouped and without major bumps</a:t>
            </a:r>
            <a:endParaRPr lang="en-US" sz="1300" dirty="0"/>
          </a:p>
        </p:txBody>
      </p:sp>
      <p:sp>
        <p:nvSpPr>
          <p:cNvPr id="13" name="Artifacts card"/>
          <p:cNvSpPr/>
          <p:nvPr/>
        </p:nvSpPr>
        <p:spPr>
          <a:xfrm>
            <a:off x="4663440" y="2103120"/>
            <a:ext cx="4023360" cy="2468880"/>
          </a:xfrm>
          <a:prstGeom prst="roundRect">
            <a:avLst>
              <a:gd name="adj" fmla="val 2963"/>
            </a:avLst>
          </a:prstGeom>
          <a:solidFill>
            <a:schemeClr val="bg2"/>
          </a:solidFill>
          <a:ln w="12700">
            <a:solidFill>
              <a:schemeClr val="bg2"/>
            </a:solidFill>
            <a:prstDash val="solid"/>
          </a:ln>
        </p:spPr>
      </p:sp>
      <p:sp>
        <p:nvSpPr>
          <p:cNvPr id="14" name="Artifacts heading"/>
          <p:cNvSpPr txBox="1"/>
          <p:nvPr/>
        </p:nvSpPr>
        <p:spPr>
          <a:xfrm>
            <a:off x="4846320" y="219456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Artifacts</a:t>
            </a:r>
            <a:endParaRPr lang="en-US" sz="1600" dirty="0"/>
          </a:p>
        </p:txBody>
      </p:sp>
      <p:sp>
        <p:nvSpPr>
          <p:cNvPr id="15" name="Artifacts points"/>
          <p:cNvSpPr txBox="1"/>
          <p:nvPr/>
        </p:nvSpPr>
        <p:spPr>
          <a:xfrm>
            <a:off x="4846320" y="260604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Two images, takeout-api and takeout-frontend, tagged sha-&lt;commit&gt;</a:t>
            </a:r>
            <a:endParaRPr lang="en-US" sz="1300" dirty="0"/>
          </a:p>
          <a:p>
            <a:pPr marL="177800" indent="-177800">
              <a:spcAft>
                <a:spcPts val="600"/>
              </a:spcAft>
              <a:buSzPct val="100000"/>
              <a:buChar char="•"/>
            </a:pPr>
            <a:r>
              <a:rPr lang="en-US" sz="1300" dirty="0">
                <a:solidFill>
                  <a:schemeClr val="tx1"/>
                </a:solidFill>
              </a:rPr>
              <a:t>Moving tags: staging and staging-previous, used for rollback</a:t>
            </a:r>
            <a:endParaRPr lang="en-US" sz="1300" dirty="0"/>
          </a:p>
          <a:p>
            <a:pPr marL="177800" indent="-177800">
              <a:spcAft>
                <a:spcPts val="600"/>
              </a:spcAft>
              <a:buSzPct val="100000"/>
              <a:buChar char="•"/>
            </a:pPr>
            <a:r>
              <a:rPr lang="en-US" sz="1300" dirty="0">
                <a:solidFill>
                  <a:schemeClr val="tx1"/>
                </a:solidFill>
              </a:rPr>
              <a:t>EF Core migrations are the database artifact</a:t>
            </a:r>
            <a:endParaRPr lang="en-US" sz="1300" dirty="0"/>
          </a:p>
          <a:p>
            <a:pPr marL="177800" indent="-177800">
              <a:spcAft>
                <a:spcPts val="600"/>
              </a:spcAft>
              <a:buSzPct val="100000"/>
              <a:buChar char="•"/>
            </a:pPr>
            <a:r>
              <a:rPr lang="en-US" sz="1300" dirty="0">
                <a:solidFill>
                  <a:schemeClr val="tx1"/>
                </a:solidFill>
              </a:rPr>
              <a:t>Secrets never in the repository; injected per environment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The pipeline</a:t>
            </a:r>
            <a:endParaRPr lang="en-US" sz="3000" dirty="0"/>
          </a:p>
        </p:txBody>
      </p:sp>
      <p:sp>
        <p:nvSpPr>
          <p:cNvPr id="3" name="CI heading"/>
          <p:cNvSpPr txBox="1"/>
          <p:nvPr/>
        </p:nvSpPr>
        <p:spPr>
          <a:xfrm>
            <a:off x="365760" y="1097280"/>
            <a:ext cx="3383280" cy="274320"/>
          </a:xfrm>
          <a:prstGeom prst="rect">
            <a:avLst/>
          </a:prstGeom>
          <a:noFill/>
          <a:ln/>
        </p:spPr>
        <p:txBody>
          <a:bodyPr wrap="square" lIns="0" tIns="0" rIns="0" bIns="0" rtlCol="0" anchor="t"/>
          <a:lstStyle/>
          <a:p>
            <a:pPr indent="0" marL="0">
              <a:buNone/>
            </a:pPr>
            <a:r>
              <a:rPr lang="en-US" sz="1300" b="1" dirty="0">
                <a:solidFill>
                  <a:schemeClr val="accent3"/>
                </a:solidFill>
              </a:rPr>
              <a:t>Pull request: CI gates (all required)</a:t>
            </a:r>
            <a:endParaRPr lang="en-US" sz="1300" dirty="0"/>
          </a:p>
        </p:txBody>
      </p:sp>
      <p:sp>
        <p:nvSpPr>
          <p:cNvPr id="4" name="Gate 1"/>
          <p:cNvSpPr txBox="1"/>
          <p:nvPr/>
        </p:nvSpPr>
        <p:spPr>
          <a:xfrm>
            <a:off x="365760" y="1463040"/>
            <a:ext cx="164592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backend</a:t>
            </a:r>
            <a:endParaRPr lang="en-US" sz="1100" dirty="0"/>
          </a:p>
          <a:p>
            <a:pPr algn="ctr" indent="0" marL="0">
              <a:buNone/>
            </a:pPr>
            <a:r>
              <a:rPr lang="en-US" sz="1100" b="1" dirty="0">
                <a:solidFill>
                  <a:schemeClr val="bg1"/>
                </a:solidFill>
              </a:rPr>
              <a:t>build + tests</a:t>
            </a:r>
            <a:endParaRPr lang="en-US" sz="1100" dirty="0"/>
          </a:p>
        </p:txBody>
      </p:sp>
      <p:sp>
        <p:nvSpPr>
          <p:cNvPr id="5" name="Gate 2"/>
          <p:cNvSpPr txBox="1"/>
          <p:nvPr/>
        </p:nvSpPr>
        <p:spPr>
          <a:xfrm>
            <a:off x="2103120" y="1463040"/>
            <a:ext cx="164592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frontend</a:t>
            </a:r>
            <a:endParaRPr lang="en-US" sz="1100" dirty="0"/>
          </a:p>
          <a:p>
            <a:pPr algn="ctr" indent="0" marL="0">
              <a:buNone/>
            </a:pPr>
            <a:r>
              <a:rPr lang="en-US" sz="1100" b="1" dirty="0">
                <a:solidFill>
                  <a:schemeClr val="bg1"/>
                </a:solidFill>
              </a:rPr>
              <a:t>tests + build</a:t>
            </a:r>
            <a:endParaRPr lang="en-US" sz="1100" dirty="0"/>
          </a:p>
        </p:txBody>
      </p:sp>
      <p:sp>
        <p:nvSpPr>
          <p:cNvPr id="6" name="Gate 3"/>
          <p:cNvSpPr txBox="1"/>
          <p:nvPr/>
        </p:nvSpPr>
        <p:spPr>
          <a:xfrm>
            <a:off x="365760" y="2240280"/>
            <a:ext cx="16459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security</a:t>
            </a:r>
            <a:endParaRPr lang="en-US" sz="1100" dirty="0"/>
          </a:p>
          <a:p>
            <a:pPr algn="ctr" indent="0" marL="0">
              <a:buNone/>
            </a:pPr>
            <a:r>
              <a:rPr lang="en-US" sz="1100" b="1" dirty="0">
                <a:solidFill>
                  <a:schemeClr val="bg1"/>
                </a:solidFill>
              </a:rPr>
              <a:t>dependency scan</a:t>
            </a:r>
            <a:endParaRPr lang="en-US" sz="1100" dirty="0"/>
          </a:p>
        </p:txBody>
      </p:sp>
      <p:sp>
        <p:nvSpPr>
          <p:cNvPr id="7" name="Gate 4"/>
          <p:cNvSpPr txBox="1"/>
          <p:nvPr/>
        </p:nvSpPr>
        <p:spPr>
          <a:xfrm>
            <a:off x="2103120" y="2240280"/>
            <a:ext cx="16459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secret scan</a:t>
            </a:r>
            <a:endParaRPr lang="en-US" sz="1100" dirty="0"/>
          </a:p>
          <a:p>
            <a:pPr algn="ctr" indent="0" marL="0">
              <a:buNone/>
            </a:pPr>
            <a:r>
              <a:rPr lang="en-US" sz="1100" b="1" dirty="0">
                <a:solidFill>
                  <a:schemeClr val="bg1"/>
                </a:solidFill>
              </a:rPr>
              <a:t>gitleaks</a:t>
            </a:r>
            <a:endParaRPr lang="en-US" sz="1100" dirty="0"/>
          </a:p>
        </p:txBody>
      </p:sp>
      <p:sp>
        <p:nvSpPr>
          <p:cNvPr id="8" name="Gate 5"/>
          <p:cNvSpPr txBox="1"/>
          <p:nvPr/>
        </p:nvSpPr>
        <p:spPr>
          <a:xfrm>
            <a:off x="365760" y="3017520"/>
            <a:ext cx="1645920" cy="640080"/>
          </a:xfrm>
          <a:prstGeom prst="roundRect">
            <a:avLst>
              <a:gd name="adj" fmla="val 8571"/>
            </a:avLst>
          </a:prstGeom>
          <a:solidFill>
            <a:schemeClr val="accent1"/>
          </a:solidFill>
          <a:ln>
            <a:solidFill>
              <a:schemeClr val="accent1"/>
            </a:solidFill>
          </a:ln>
        </p:spPr>
        <p:txBody>
          <a:bodyPr wrap="square" lIns="508" tIns="508" rIns="508" bIns="508" rtlCol="0" anchor="ctr"/>
          <a:lstStyle/>
          <a:p>
            <a:pPr algn="ctr" indent="0" marL="0">
              <a:buNone/>
            </a:pPr>
            <a:r>
              <a:rPr lang="en-US" sz="1100" b="1" dirty="0">
                <a:solidFill>
                  <a:schemeClr val="bg1"/>
                </a:solidFill>
              </a:rPr>
              <a:t>container stack</a:t>
            </a:r>
            <a:endParaRPr lang="en-US" sz="1100" dirty="0"/>
          </a:p>
          <a:p>
            <a:pPr algn="ctr" indent="0" marL="0">
              <a:buNone/>
            </a:pPr>
            <a:r>
              <a:rPr lang="en-US" sz="1100" b="1" dirty="0">
                <a:solidFill>
                  <a:schemeClr val="bg1"/>
                </a:solidFill>
              </a:rPr>
              <a:t>smoke test</a:t>
            </a:r>
            <a:endParaRPr lang="en-US" sz="1100" dirty="0"/>
          </a:p>
        </p:txBody>
      </p:sp>
      <p:sp>
        <p:nvSpPr>
          <p:cNvPr id="9" name="Gate 6"/>
          <p:cNvSpPr txBox="1"/>
          <p:nvPr/>
        </p:nvSpPr>
        <p:spPr>
          <a:xfrm>
            <a:off x="2103120" y="3017520"/>
            <a:ext cx="1645920" cy="640080"/>
          </a:xfrm>
          <a:prstGeom prst="roundRect">
            <a:avLst>
              <a:gd name="adj" fmla="val 8571"/>
            </a:avLst>
          </a:prstGeom>
          <a:solidFill>
            <a:schemeClr val="accent6"/>
          </a:solidFill>
          <a:ln>
            <a:solidFill>
              <a:schemeClr val="accent6"/>
            </a:solidFill>
          </a:ln>
        </p:spPr>
        <p:txBody>
          <a:bodyPr wrap="square" lIns="508" tIns="508" rIns="508" bIns="508" rtlCol="0" anchor="ctr"/>
          <a:lstStyle/>
          <a:p>
            <a:pPr algn="ctr" indent="0" marL="0">
              <a:buNone/>
            </a:pPr>
            <a:r>
              <a:rPr lang="en-US" sz="1100" b="1" dirty="0">
                <a:solidFill>
                  <a:schemeClr val="bg1"/>
                </a:solidFill>
              </a:rPr>
              <a:t>CodeQL</a:t>
            </a:r>
            <a:endParaRPr lang="en-US" sz="1100" dirty="0"/>
          </a:p>
          <a:p>
            <a:pPr algn="ctr" indent="0" marL="0">
              <a:buNone/>
            </a:pPr>
            <a:r>
              <a:rPr lang="en-US" sz="1100" b="1" dirty="0">
                <a:solidFill>
                  <a:schemeClr val="bg1"/>
                </a:solidFill>
              </a:rPr>
              <a:t>SAST</a:t>
            </a:r>
            <a:endParaRPr lang="en-US" sz="1100" dirty="0"/>
          </a:p>
        </p:txBody>
      </p:sp>
      <p:sp>
        <p:nvSpPr>
          <p:cNvPr id="10" name="Merge chip"/>
          <p:cNvSpPr txBox="1"/>
          <p:nvPr/>
        </p:nvSpPr>
        <p:spPr>
          <a:xfrm>
            <a:off x="3931920" y="2148840"/>
            <a:ext cx="822960" cy="731520"/>
          </a:xfrm>
          <a:prstGeom prst="roundRect">
            <a:avLst>
              <a:gd name="adj" fmla="val 75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merge</a:t>
            </a:r>
            <a:endParaRPr lang="en-US" sz="1100" dirty="0"/>
          </a:p>
          <a:p>
            <a:pPr algn="ctr" indent="0" marL="0">
              <a:buNone/>
            </a:pPr>
            <a:r>
              <a:rPr lang="en-US" sz="1100" b="1" dirty="0">
                <a:solidFill>
                  <a:schemeClr val="bg1"/>
                </a:solidFill>
              </a:rPr>
              <a:t>to main</a:t>
            </a:r>
            <a:endParaRPr lang="en-US" sz="1100" dirty="0"/>
          </a:p>
        </p:txBody>
      </p:sp>
      <p:sp>
        <p:nvSpPr>
          <p:cNvPr id="11" name="CI to merge"/>
          <p:cNvSpPr/>
          <p:nvPr/>
        </p:nvSpPr>
        <p:spPr>
          <a:xfrm>
            <a:off x="3794760" y="2514600"/>
            <a:ext cx="137160" cy="0"/>
          </a:xfrm>
          <a:prstGeom prst="line">
            <a:avLst/>
          </a:prstGeom>
          <a:noFill/>
          <a:ln w="19050">
            <a:solidFill>
              <a:schemeClr val="tx2"/>
            </a:solidFill>
            <a:prstDash val="solid"/>
            <a:tailEnd type="triangle"/>
          </a:ln>
        </p:spPr>
      </p:sp>
      <p:sp>
        <p:nvSpPr>
          <p:cNvPr id="12" name="Merge to CD"/>
          <p:cNvSpPr/>
          <p:nvPr/>
        </p:nvSpPr>
        <p:spPr>
          <a:xfrm>
            <a:off x="4754880" y="2514600"/>
            <a:ext cx="182880" cy="0"/>
          </a:xfrm>
          <a:prstGeom prst="line">
            <a:avLst/>
          </a:prstGeom>
          <a:noFill/>
          <a:ln w="19050">
            <a:solidFill>
              <a:schemeClr val="tx2"/>
            </a:solidFill>
            <a:prstDash val="solid"/>
            <a:tailEnd type="triangle"/>
          </a:ln>
        </p:spPr>
      </p:sp>
      <p:sp>
        <p:nvSpPr>
          <p:cNvPr id="13" name="CD heading"/>
          <p:cNvSpPr txBox="1"/>
          <p:nvPr/>
        </p:nvSpPr>
        <p:spPr>
          <a:xfrm>
            <a:off x="4983480" y="1097280"/>
            <a:ext cx="3657600" cy="274320"/>
          </a:xfrm>
          <a:prstGeom prst="rect">
            <a:avLst/>
          </a:prstGeom>
          <a:noFill/>
          <a:ln/>
        </p:spPr>
        <p:txBody>
          <a:bodyPr wrap="square" lIns="0" tIns="0" rIns="0" bIns="0" rtlCol="0" anchor="t"/>
          <a:lstStyle/>
          <a:p>
            <a:pPr indent="0" marL="0">
              <a:buNone/>
            </a:pPr>
            <a:r>
              <a:rPr lang="en-US" sz="1300" b="1" dirty="0">
                <a:solidFill>
                  <a:schemeClr val="accent1"/>
                </a:solidFill>
              </a:rPr>
              <a:t>CD after green CI</a:t>
            </a:r>
            <a:endParaRPr lang="en-US" sz="1300" dirty="0"/>
          </a:p>
        </p:txBody>
      </p:sp>
      <p:sp>
        <p:nvSpPr>
          <p:cNvPr id="14" name="CD step 1"/>
          <p:cNvSpPr txBox="1"/>
          <p:nvPr/>
        </p:nvSpPr>
        <p:spPr>
          <a:xfrm>
            <a:off x="4983480" y="1463040"/>
            <a:ext cx="178308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build images</a:t>
            </a:r>
            <a:endParaRPr lang="en-US" sz="1100" dirty="0"/>
          </a:p>
        </p:txBody>
      </p:sp>
      <p:sp>
        <p:nvSpPr>
          <p:cNvPr id="15" name="CD step 2"/>
          <p:cNvSpPr txBox="1"/>
          <p:nvPr/>
        </p:nvSpPr>
        <p:spPr>
          <a:xfrm>
            <a:off x="6858000" y="1463040"/>
            <a:ext cx="178308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Trivy scan</a:t>
            </a:r>
            <a:endParaRPr lang="en-US" sz="1100" dirty="0"/>
          </a:p>
          <a:p>
            <a:pPr algn="ctr" indent="0" marL="0">
              <a:buNone/>
            </a:pPr>
            <a:r>
              <a:rPr lang="en-US" sz="1100" b="1" dirty="0">
                <a:solidFill>
                  <a:schemeClr val="bg1"/>
                </a:solidFill>
              </a:rPr>
              <a:t>fail = no push</a:t>
            </a:r>
            <a:endParaRPr lang="en-US" sz="1100" dirty="0"/>
          </a:p>
        </p:txBody>
      </p:sp>
      <p:sp>
        <p:nvSpPr>
          <p:cNvPr id="16" name="CD step 3"/>
          <p:cNvSpPr txBox="1"/>
          <p:nvPr/>
        </p:nvSpPr>
        <p:spPr>
          <a:xfrm>
            <a:off x="4983480" y="2240280"/>
            <a:ext cx="178308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100" b="1" dirty="0">
                <a:solidFill>
                  <a:schemeClr val="tx1"/>
                </a:solidFill>
              </a:rPr>
              <a:t>push to GHCR</a:t>
            </a:r>
            <a:endParaRPr lang="en-US" sz="1100" dirty="0"/>
          </a:p>
          <a:p>
            <a:pPr algn="ctr" indent="0" marL="0">
              <a:buNone/>
            </a:pPr>
            <a:r>
              <a:rPr lang="en-US" sz="1100" b="1" dirty="0">
                <a:solidFill>
                  <a:schemeClr val="tx1"/>
                </a:solidFill>
              </a:rPr>
              <a:t>sha tag</a:t>
            </a:r>
            <a:endParaRPr lang="en-US" sz="1100" dirty="0"/>
          </a:p>
        </p:txBody>
      </p:sp>
      <p:sp>
        <p:nvSpPr>
          <p:cNvPr id="17" name="CD step 4"/>
          <p:cNvSpPr txBox="1"/>
          <p:nvPr/>
        </p:nvSpPr>
        <p:spPr>
          <a:xfrm>
            <a:off x="6858000" y="2240280"/>
            <a:ext cx="178308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deploy to</a:t>
            </a:r>
            <a:endParaRPr lang="en-US" sz="1100" dirty="0"/>
          </a:p>
          <a:p>
            <a:pPr algn="ctr" indent="0" marL="0">
              <a:buNone/>
            </a:pPr>
            <a:r>
              <a:rPr lang="en-US" sz="1100" b="1" dirty="0">
                <a:solidFill>
                  <a:schemeClr val="bg1"/>
                </a:solidFill>
              </a:rPr>
              <a:t>staging</a:t>
            </a:r>
            <a:endParaRPr lang="en-US" sz="1100" dirty="0"/>
          </a:p>
        </p:txBody>
      </p:sp>
      <p:sp>
        <p:nvSpPr>
          <p:cNvPr id="18" name="CD step 5"/>
          <p:cNvSpPr txBox="1"/>
          <p:nvPr/>
        </p:nvSpPr>
        <p:spPr>
          <a:xfrm>
            <a:off x="4983480" y="3017520"/>
            <a:ext cx="178308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health +</a:t>
            </a:r>
            <a:endParaRPr lang="en-US" sz="1100" dirty="0"/>
          </a:p>
          <a:p>
            <a:pPr algn="ctr" indent="0" marL="0">
              <a:buNone/>
            </a:pPr>
            <a:r>
              <a:rPr lang="en-US" sz="1100" b="1" dirty="0">
                <a:solidFill>
                  <a:schemeClr val="bg1"/>
                </a:solidFill>
              </a:rPr>
              <a:t>19-step smoke</a:t>
            </a:r>
            <a:endParaRPr lang="en-US" sz="1100" dirty="0"/>
          </a:p>
        </p:txBody>
      </p:sp>
      <p:sp>
        <p:nvSpPr>
          <p:cNvPr id="19" name="CD step 6"/>
          <p:cNvSpPr txBox="1"/>
          <p:nvPr/>
        </p:nvSpPr>
        <p:spPr>
          <a:xfrm>
            <a:off x="6858000" y="3017520"/>
            <a:ext cx="178308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100" b="1" dirty="0">
                <a:solidFill>
                  <a:schemeClr val="tx1"/>
                </a:solidFill>
              </a:rPr>
              <a:t>promote tags</a:t>
            </a:r>
            <a:endParaRPr lang="en-US" sz="1100" dirty="0"/>
          </a:p>
        </p:txBody>
      </p:sp>
      <p:sp>
        <p:nvSpPr>
          <p:cNvPr id="20" name="Rollback card"/>
          <p:cNvSpPr/>
          <p:nvPr/>
        </p:nvSpPr>
        <p:spPr>
          <a:xfrm>
            <a:off x="365760" y="3931920"/>
            <a:ext cx="8366760" cy="685800"/>
          </a:xfrm>
          <a:prstGeom prst="roundRect">
            <a:avLst>
              <a:gd name="adj" fmla="val 10667"/>
            </a:avLst>
          </a:prstGeom>
          <a:solidFill>
            <a:schemeClr val="tx1"/>
          </a:solidFill>
          <a:ln w="12700">
            <a:solidFill>
              <a:schemeClr val="tx1"/>
            </a:solidFill>
            <a:prstDash val="solid"/>
          </a:ln>
        </p:spPr>
      </p:sp>
      <p:sp>
        <p:nvSpPr>
          <p:cNvPr id="21" name="Rollback text"/>
          <p:cNvSpPr txBox="1"/>
          <p:nvPr/>
        </p:nvSpPr>
        <p:spPr>
          <a:xfrm>
            <a:off x="548640" y="3931920"/>
            <a:ext cx="8046720" cy="685800"/>
          </a:xfrm>
          <a:prstGeom prst="rect">
            <a:avLst/>
          </a:prstGeom>
          <a:noFill/>
          <a:ln/>
        </p:spPr>
        <p:txBody>
          <a:bodyPr wrap="square" lIns="0" tIns="0" rIns="0" bIns="0" rtlCol="0" anchor="ctr"/>
          <a:lstStyle/>
          <a:p>
            <a:pPr indent="0" marL="0">
              <a:buNone/>
            </a:pPr>
            <a:r>
              <a:rPr lang="en-US" sz="1200" b="1" dirty="0">
                <a:solidFill>
                  <a:schemeClr val="accent2"/>
                </a:solidFill>
              </a:rPr>
              <a:t>Rollback: </a:t>
            </a:r>
            <a:pPr indent="0" marL="0">
              <a:buNone/>
            </a:pPr>
            <a:r>
              <a:rPr lang="en-US" sz="1200" dirty="0">
                <a:solidFill>
                  <a:schemeClr val="bg1"/>
                </a:solidFill>
              </a:rPr>
              <a:t>any failure after the deploy redeploys staging-previous, checks it is healthy and still fails the run. A manual rollback drill rolls back, smoke-tests the old release, then rolls forward.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What a green build means</a:t>
            </a:r>
            <a:endParaRPr lang="en-US" sz="3000" dirty="0"/>
          </a:p>
        </p:txBody>
      </p:sp>
      <p:sp>
        <p:nvSpPr>
          <p:cNvPr id="3" name="Tile 1"/>
          <p:cNvSpPr/>
          <p:nvPr/>
        </p:nvSpPr>
        <p:spPr>
          <a:xfrm>
            <a:off x="457200" y="1143000"/>
            <a:ext cx="4023360" cy="1463040"/>
          </a:xfrm>
          <a:prstGeom prst="roundRect">
            <a:avLst>
              <a:gd name="adj" fmla="val 5000"/>
            </a:avLst>
          </a:prstGeom>
          <a:solidFill>
            <a:schemeClr val="bg2"/>
          </a:solidFill>
          <a:ln w="12700">
            <a:solidFill>
              <a:schemeClr val="bg2"/>
            </a:solidFill>
            <a:prstDash val="solid"/>
          </a:ln>
        </p:spPr>
      </p:sp>
      <p:sp>
        <p:nvSpPr>
          <p:cNvPr id="4" name="Tile 1 value"/>
          <p:cNvSpPr txBox="1"/>
          <p:nvPr/>
        </p:nvSpPr>
        <p:spPr>
          <a:xfrm>
            <a:off x="685800" y="12801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287</a:t>
            </a:r>
            <a:endParaRPr lang="en-US" sz="5400" dirty="0"/>
          </a:p>
        </p:txBody>
      </p:sp>
      <p:sp>
        <p:nvSpPr>
          <p:cNvPr id="5" name="Tile 1 title"/>
          <p:cNvSpPr txBox="1"/>
          <p:nvPr/>
        </p:nvSpPr>
        <p:spPr>
          <a:xfrm>
            <a:off x="2103120" y="14173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backend tests</a:t>
            </a:r>
            <a:endParaRPr lang="en-US" sz="1700" dirty="0"/>
          </a:p>
        </p:txBody>
      </p:sp>
      <p:sp>
        <p:nvSpPr>
          <p:cNvPr id="6" name="Tile 1 text"/>
          <p:cNvSpPr txBox="1"/>
          <p:nvPr/>
        </p:nvSpPr>
        <p:spPr>
          <a:xfrm>
            <a:off x="2103120" y="1828800"/>
            <a:ext cx="2286000" cy="731520"/>
          </a:xfrm>
          <a:prstGeom prst="rect">
            <a:avLst/>
          </a:prstGeom>
          <a:noFill/>
          <a:ln/>
        </p:spPr>
        <p:txBody>
          <a:bodyPr wrap="square" lIns="0" tIns="0" rIns="0" bIns="0" rtlCol="0" anchor="t"/>
          <a:lstStyle/>
          <a:p>
            <a:pPr indent="0" marL="0">
              <a:buNone/>
            </a:pPr>
            <a:r>
              <a:rPr lang="en-US" sz="1200" dirty="0">
                <a:solidFill>
                  <a:schemeClr val="tx1"/>
                </a:solidFill>
              </a:rPr>
              <a:t>run against real PostgreSQL 16, none skipped</a:t>
            </a:r>
            <a:endParaRPr lang="en-US" sz="1200" dirty="0"/>
          </a:p>
        </p:txBody>
      </p:sp>
      <p:sp>
        <p:nvSpPr>
          <p:cNvPr id="7" name="Tile 2"/>
          <p:cNvSpPr/>
          <p:nvPr/>
        </p:nvSpPr>
        <p:spPr>
          <a:xfrm>
            <a:off x="4663440" y="1143000"/>
            <a:ext cx="4023360" cy="1463040"/>
          </a:xfrm>
          <a:prstGeom prst="roundRect">
            <a:avLst>
              <a:gd name="adj" fmla="val 5000"/>
            </a:avLst>
          </a:prstGeom>
          <a:solidFill>
            <a:schemeClr val="bg2"/>
          </a:solidFill>
          <a:ln w="12700">
            <a:solidFill>
              <a:schemeClr val="bg2"/>
            </a:solidFill>
            <a:prstDash val="solid"/>
          </a:ln>
        </p:spPr>
      </p:sp>
      <p:sp>
        <p:nvSpPr>
          <p:cNvPr id="8" name="Tile 2 value"/>
          <p:cNvSpPr txBox="1"/>
          <p:nvPr/>
        </p:nvSpPr>
        <p:spPr>
          <a:xfrm>
            <a:off x="4892040" y="12801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126</a:t>
            </a:r>
            <a:endParaRPr lang="en-US" sz="5400" dirty="0"/>
          </a:p>
        </p:txBody>
      </p:sp>
      <p:sp>
        <p:nvSpPr>
          <p:cNvPr id="9" name="Tile 2 title"/>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frontend tests</a:t>
            </a:r>
            <a:endParaRPr lang="en-US" sz="1700" dirty="0"/>
          </a:p>
        </p:txBody>
      </p:sp>
      <p:sp>
        <p:nvSpPr>
          <p:cNvPr id="10" name="Tile 2 text"/>
          <p:cNvSpPr txBox="1"/>
          <p:nvPr/>
        </p:nvSpPr>
        <p:spPr>
          <a:xfrm>
            <a:off x="6309360" y="1828800"/>
            <a:ext cx="2286000" cy="731520"/>
          </a:xfrm>
          <a:prstGeom prst="rect">
            <a:avLst/>
          </a:prstGeom>
          <a:noFill/>
          <a:ln/>
        </p:spPr>
        <p:txBody>
          <a:bodyPr wrap="square" lIns="0" tIns="0" rIns="0" bIns="0" rtlCol="0" anchor="t"/>
          <a:lstStyle/>
          <a:p>
            <a:pPr indent="0" marL="0">
              <a:buNone/>
            </a:pPr>
            <a:r>
              <a:rPr lang="en-US" sz="1200" dirty="0">
                <a:solidFill>
                  <a:schemeClr val="tx1"/>
                </a:solidFill>
              </a:rPr>
              <a:t>plus a production build</a:t>
            </a:r>
            <a:endParaRPr lang="en-US" sz="1200" dirty="0"/>
          </a:p>
        </p:txBody>
      </p:sp>
      <p:sp>
        <p:nvSpPr>
          <p:cNvPr id="11" name="Tile 3"/>
          <p:cNvSpPr/>
          <p:nvPr/>
        </p:nvSpPr>
        <p:spPr>
          <a:xfrm>
            <a:off x="457200" y="2743200"/>
            <a:ext cx="4023360" cy="1463040"/>
          </a:xfrm>
          <a:prstGeom prst="roundRect">
            <a:avLst>
              <a:gd name="adj" fmla="val 5000"/>
            </a:avLst>
          </a:prstGeom>
          <a:solidFill>
            <a:schemeClr val="bg2"/>
          </a:solidFill>
          <a:ln w="12700">
            <a:solidFill>
              <a:schemeClr val="bg2"/>
            </a:solidFill>
            <a:prstDash val="solid"/>
          </a:ln>
        </p:spPr>
      </p:sp>
      <p:sp>
        <p:nvSpPr>
          <p:cNvPr id="12" name="Tile 3 value"/>
          <p:cNvSpPr txBox="1"/>
          <p:nvPr/>
        </p:nvSpPr>
        <p:spPr>
          <a:xfrm>
            <a:off x="685800" y="28803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19</a:t>
            </a:r>
            <a:endParaRPr lang="en-US" sz="5400" dirty="0"/>
          </a:p>
        </p:txBody>
      </p:sp>
      <p:sp>
        <p:nvSpPr>
          <p:cNvPr id="13" name="Tile 3 title"/>
          <p:cNvSpPr txBox="1"/>
          <p:nvPr/>
        </p:nvSpPr>
        <p:spPr>
          <a:xfrm>
            <a:off x="2103120" y="30175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smoke steps</a:t>
            </a:r>
            <a:endParaRPr lang="en-US" sz="1700" dirty="0"/>
          </a:p>
        </p:txBody>
      </p:sp>
      <p:sp>
        <p:nvSpPr>
          <p:cNvPr id="14" name="Tile 3 text"/>
          <p:cNvSpPr txBox="1"/>
          <p:nvPr/>
        </p:nvSpPr>
        <p:spPr>
          <a:xfrm>
            <a:off x="2103120" y="3429000"/>
            <a:ext cx="2286000" cy="731520"/>
          </a:xfrm>
          <a:prstGeom prst="rect">
            <a:avLst/>
          </a:prstGeom>
          <a:noFill/>
          <a:ln/>
        </p:spPr>
        <p:txBody>
          <a:bodyPr wrap="square" lIns="0" tIns="0" rIns="0" bIns="0" rtlCol="0" anchor="t"/>
          <a:lstStyle/>
          <a:p>
            <a:pPr indent="0" marL="0">
              <a:buNone/>
            </a:pPr>
            <a:r>
              <a:rPr lang="en-US" sz="1200" dirty="0">
                <a:solidFill>
                  <a:schemeClr val="tx1"/>
                </a:solidFill>
              </a:rPr>
              <a:t>one order from checkout to delivery in containers</a:t>
            </a:r>
            <a:endParaRPr lang="en-US" sz="1200" dirty="0"/>
          </a:p>
        </p:txBody>
      </p:sp>
      <p:sp>
        <p:nvSpPr>
          <p:cNvPr id="15" name="Tile 4"/>
          <p:cNvSpPr/>
          <p:nvPr/>
        </p:nvSpPr>
        <p:spPr>
          <a:xfrm>
            <a:off x="4663440" y="2743200"/>
            <a:ext cx="4023360" cy="1463040"/>
          </a:xfrm>
          <a:prstGeom prst="roundRect">
            <a:avLst>
              <a:gd name="adj" fmla="val 5000"/>
            </a:avLst>
          </a:prstGeom>
          <a:solidFill>
            <a:schemeClr val="bg2"/>
          </a:solidFill>
          <a:ln w="12700">
            <a:solidFill>
              <a:schemeClr val="bg2"/>
            </a:solidFill>
            <a:prstDash val="solid"/>
          </a:ln>
        </p:spPr>
      </p:sp>
      <p:sp>
        <p:nvSpPr>
          <p:cNvPr id="16" name="Tile 4 value"/>
          <p:cNvSpPr txBox="1"/>
          <p:nvPr/>
        </p:nvSpPr>
        <p:spPr>
          <a:xfrm>
            <a:off x="4892040" y="28803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6</a:t>
            </a:r>
            <a:endParaRPr lang="en-US" sz="5400" dirty="0"/>
          </a:p>
        </p:txBody>
      </p:sp>
      <p:sp>
        <p:nvSpPr>
          <p:cNvPr id="17" name="Tile 4 title"/>
          <p:cNvSpPr txBox="1"/>
          <p:nvPr/>
        </p:nvSpPr>
        <p:spPr>
          <a:xfrm>
            <a:off x="6309360" y="30175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CI gates</a:t>
            </a:r>
            <a:endParaRPr lang="en-US" sz="1700" dirty="0"/>
          </a:p>
        </p:txBody>
      </p:sp>
      <p:sp>
        <p:nvSpPr>
          <p:cNvPr id="18" name="Tile 4 text"/>
          <p:cNvSpPr txBox="1"/>
          <p:nvPr/>
        </p:nvSpPr>
        <p:spPr>
          <a:xfrm>
            <a:off x="6309360" y="3429000"/>
            <a:ext cx="2286000" cy="731520"/>
          </a:xfrm>
          <a:prstGeom prst="rect">
            <a:avLst/>
          </a:prstGeom>
          <a:noFill/>
          <a:ln/>
        </p:spPr>
        <p:txBody>
          <a:bodyPr wrap="square" lIns="0" tIns="0" rIns="0" bIns="0" rtlCol="0" anchor="t"/>
          <a:lstStyle/>
          <a:p>
            <a:pPr indent="0" marL="0">
              <a:buNone/>
            </a:pPr>
            <a:r>
              <a:rPr lang="en-US" sz="1200" dirty="0">
                <a:solidFill>
                  <a:schemeClr val="tx1"/>
                </a:solidFill>
              </a:rPr>
              <a:t>tests, dependency scan, secret scan, container smoke, CodeQL</a:t>
            </a:r>
            <a:endParaRPr lang="en-US" sz="1200" dirty="0"/>
          </a:p>
        </p:txBody>
      </p:sp>
      <p:sp>
        <p:nvSpPr>
          <p:cNvPr id="19" name="Takeaway"/>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300" b="1" dirty="0">
                <a:solidFill>
                  <a:schemeClr val="tx2"/>
                </a:solidFill>
              </a:rPr>
              <a:t>Green means: built from an empty database, tested on PostgreSQL, images start, one order is delivered end to 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Technical findings</a:t>
            </a:r>
            <a:endParaRPr lang="en-US" sz="3000" dirty="0"/>
          </a:p>
        </p:txBody>
      </p:sp>
      <p:sp>
        <p:nvSpPr>
          <p:cNvPr id="3" name="Finding 1 card"/>
          <p:cNvSpPr/>
          <p:nvPr/>
        </p:nvSpPr>
        <p:spPr>
          <a:xfrm>
            <a:off x="457200" y="1097280"/>
            <a:ext cx="2651760" cy="3063240"/>
          </a:xfrm>
          <a:prstGeom prst="roundRect">
            <a:avLst>
              <a:gd name="adj" fmla="val 2759"/>
            </a:avLst>
          </a:prstGeom>
          <a:solidFill>
            <a:schemeClr val="bg2"/>
          </a:solidFill>
          <a:ln w="12700">
            <a:solidFill>
              <a:schemeClr val="bg2"/>
            </a:solidFill>
            <a:prstDash val="solid"/>
          </a:ln>
        </p:spPr>
      </p:sp>
      <p:sp>
        <p:nvSpPr>
          <p:cNvPr id="4" name="Finding 1 badge"/>
          <p:cNvSpPr/>
          <p:nvPr/>
        </p:nvSpPr>
        <p:spPr>
          <a:xfrm>
            <a:off x="594360" y="1207008"/>
            <a:ext cx="347472" cy="347472"/>
          </a:xfrm>
          <a:prstGeom prst="ellipse">
            <a:avLst/>
          </a:prstGeom>
          <a:solidFill>
            <a:schemeClr val="accent1"/>
          </a:solidFill>
          <a:ln w="12700">
            <a:solidFill>
              <a:schemeClr val="accent1"/>
            </a:solidFill>
            <a:prstDash val="solid"/>
          </a:ln>
        </p:spPr>
      </p:sp>
      <p:sp>
        <p:nvSpPr>
          <p:cNvPr id="5" name="Finding 1 number"/>
          <p:cNvSpPr txBox="1"/>
          <p:nvPr/>
        </p:nvSpPr>
        <p:spPr>
          <a:xfrm>
            <a:off x="59436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Finding 1 title"/>
          <p:cNvSpPr txBox="1"/>
          <p:nvPr/>
        </p:nvSpPr>
        <p:spPr>
          <a:xfrm>
            <a:off x="105156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Fresh database crashed on start</a:t>
            </a:r>
            <a:endParaRPr lang="en-US" sz="1300" dirty="0"/>
          </a:p>
        </p:txBody>
      </p:sp>
      <p:sp>
        <p:nvSpPr>
          <p:cNvPr id="7" name="Finding 1 cause"/>
          <p:cNvSpPr txBox="1"/>
          <p:nvPr/>
        </p:nvSpPr>
        <p:spPr>
          <a:xfrm>
            <a:off x="59436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A migration lacked its EF Core attributes, so it never ran. A new database had no second merchant and the seeder failed on a foreign key.</a:t>
            </a:r>
            <a:endParaRPr lang="en-US" sz="1200" dirty="0"/>
          </a:p>
        </p:txBody>
      </p:sp>
      <p:sp>
        <p:nvSpPr>
          <p:cNvPr id="8" name="Finding 1 fix"/>
          <p:cNvSpPr txBox="1"/>
          <p:nvPr/>
        </p:nvSpPr>
        <p:spPr>
          <a:xfrm>
            <a:off x="59436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Added the attributes; a test now checks every migration is registered.</a:t>
            </a:r>
            <a:endParaRPr lang="en-US" sz="1200" dirty="0"/>
          </a:p>
        </p:txBody>
      </p:sp>
      <p:sp>
        <p:nvSpPr>
          <p:cNvPr id="9" name="Finding 2 card"/>
          <p:cNvSpPr/>
          <p:nvPr/>
        </p:nvSpPr>
        <p:spPr>
          <a:xfrm>
            <a:off x="3246120" y="1097280"/>
            <a:ext cx="2651760" cy="3063240"/>
          </a:xfrm>
          <a:prstGeom prst="roundRect">
            <a:avLst>
              <a:gd name="adj" fmla="val 2759"/>
            </a:avLst>
          </a:prstGeom>
          <a:solidFill>
            <a:schemeClr val="bg2"/>
          </a:solidFill>
          <a:ln w="12700">
            <a:solidFill>
              <a:schemeClr val="bg2"/>
            </a:solidFill>
            <a:prstDash val="solid"/>
          </a:ln>
        </p:spPr>
      </p:sp>
      <p:sp>
        <p:nvSpPr>
          <p:cNvPr id="10" name="Finding 2 badge"/>
          <p:cNvSpPr/>
          <p:nvPr/>
        </p:nvSpPr>
        <p:spPr>
          <a:xfrm>
            <a:off x="3383280" y="1207008"/>
            <a:ext cx="347472" cy="347472"/>
          </a:xfrm>
          <a:prstGeom prst="ellipse">
            <a:avLst/>
          </a:prstGeom>
          <a:solidFill>
            <a:schemeClr val="accent1"/>
          </a:solidFill>
          <a:ln w="12700">
            <a:solidFill>
              <a:schemeClr val="accent1"/>
            </a:solidFill>
            <a:prstDash val="solid"/>
          </a:ln>
        </p:spPr>
      </p:sp>
      <p:sp>
        <p:nvSpPr>
          <p:cNvPr id="11" name="Finding 2 number"/>
          <p:cNvSpPr txBox="1"/>
          <p:nvPr/>
        </p:nvSpPr>
        <p:spPr>
          <a:xfrm>
            <a:off x="338328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Finding 2 title"/>
          <p:cNvSpPr txBox="1"/>
          <p:nvPr/>
        </p:nvSpPr>
        <p:spPr>
          <a:xfrm>
            <a:off x="384048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A default admin password shipped</a:t>
            </a:r>
            <a:endParaRPr lang="en-US" sz="1300" dirty="0"/>
          </a:p>
        </p:txBody>
      </p:sp>
      <p:sp>
        <p:nvSpPr>
          <p:cNvPr id="13" name="Finding 2 cause"/>
          <p:cNvSpPr txBox="1"/>
          <p:nvPr/>
        </p:nvSpPr>
        <p:spPr>
          <a:xfrm>
            <a:off x="338328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A migration stored the hash of a documented password in every database, so anyone could sign in as admin.</a:t>
            </a:r>
            <a:endParaRPr lang="en-US" sz="1200" dirty="0"/>
          </a:p>
        </p:txBody>
      </p:sp>
      <p:sp>
        <p:nvSpPr>
          <p:cNvPr id="14" name="Finding 2 fix"/>
          <p:cNvSpPr txBox="1"/>
          <p:nvPr/>
        </p:nvSpPr>
        <p:spPr>
          <a:xfrm>
            <a:off x="338328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Admin has no usable password; one is set at deploy time. The old password returns 401.</a:t>
            </a:r>
            <a:endParaRPr lang="en-US" sz="1200" dirty="0"/>
          </a:p>
        </p:txBody>
      </p:sp>
      <p:sp>
        <p:nvSpPr>
          <p:cNvPr id="15" name="Finding 3 card"/>
          <p:cNvSpPr/>
          <p:nvPr/>
        </p:nvSpPr>
        <p:spPr>
          <a:xfrm>
            <a:off x="6035040" y="1097280"/>
            <a:ext cx="2651760" cy="3063240"/>
          </a:xfrm>
          <a:prstGeom prst="roundRect">
            <a:avLst>
              <a:gd name="adj" fmla="val 2759"/>
            </a:avLst>
          </a:prstGeom>
          <a:solidFill>
            <a:schemeClr val="bg2"/>
          </a:solidFill>
          <a:ln w="12700">
            <a:solidFill>
              <a:schemeClr val="bg2"/>
            </a:solidFill>
            <a:prstDash val="solid"/>
          </a:ln>
        </p:spPr>
      </p:sp>
      <p:sp>
        <p:nvSpPr>
          <p:cNvPr id="16" name="Finding 3 badge"/>
          <p:cNvSpPr/>
          <p:nvPr/>
        </p:nvSpPr>
        <p:spPr>
          <a:xfrm>
            <a:off x="6172200" y="1207008"/>
            <a:ext cx="347472" cy="347472"/>
          </a:xfrm>
          <a:prstGeom prst="ellipse">
            <a:avLst/>
          </a:prstGeom>
          <a:solidFill>
            <a:schemeClr val="accent1"/>
          </a:solidFill>
          <a:ln w="12700">
            <a:solidFill>
              <a:schemeClr val="accent1"/>
            </a:solidFill>
            <a:prstDash val="solid"/>
          </a:ln>
        </p:spPr>
      </p:sp>
      <p:sp>
        <p:nvSpPr>
          <p:cNvPr id="17" name="Finding 3 number"/>
          <p:cNvSpPr txBox="1"/>
          <p:nvPr/>
        </p:nvSpPr>
        <p:spPr>
          <a:xfrm>
            <a:off x="617220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Finding 3 title"/>
          <p:cNvSpPr txBox="1"/>
          <p:nvPr/>
        </p:nvSpPr>
        <p:spPr>
          <a:xfrm>
            <a:off x="662940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CI hid both problems</a:t>
            </a:r>
            <a:endParaRPr lang="en-US" sz="1300" dirty="0"/>
          </a:p>
        </p:txBody>
      </p:sp>
      <p:sp>
        <p:nvSpPr>
          <p:cNvPr id="19" name="Finding 3 cause"/>
          <p:cNvSpPr txBox="1"/>
          <p:nvPr/>
        </p:nvSpPr>
        <p:spPr>
          <a:xfrm>
            <a:off x="617220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The backend job had no PostgreSQL, so 16 database tests were skipped.</a:t>
            </a:r>
            <a:endParaRPr lang="en-US" sz="1200" dirty="0"/>
          </a:p>
        </p:txBody>
      </p:sp>
      <p:sp>
        <p:nvSpPr>
          <p:cNvPr id="20" name="Finding 3 fix"/>
          <p:cNvSpPr txBox="1"/>
          <p:nvPr/>
        </p:nvSpPr>
        <p:spPr>
          <a:xfrm>
            <a:off x="617220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PostgreSQL service in CI: 287 tests run, none skipped.</a:t>
            </a:r>
            <a:endParaRPr lang="en-US" sz="1200" dirty="0"/>
          </a:p>
        </p:txBody>
      </p:sp>
      <p:sp>
        <p:nvSpPr>
          <p:cNvPr id="21" name="Lesson card"/>
          <p:cNvSpPr/>
          <p:nvPr/>
        </p:nvSpPr>
        <p:spPr>
          <a:xfrm>
            <a:off x="457200" y="4251960"/>
            <a:ext cx="8229600" cy="411480"/>
          </a:xfrm>
          <a:prstGeom prst="roundRect">
            <a:avLst>
              <a:gd name="adj" fmla="val 17778"/>
            </a:avLst>
          </a:prstGeom>
          <a:solidFill>
            <a:schemeClr val="tx1"/>
          </a:solidFill>
          <a:ln w="12700">
            <a:solidFill>
              <a:schemeClr val="tx1"/>
            </a:solidFill>
            <a:prstDash val="solid"/>
          </a:ln>
        </p:spPr>
      </p:sp>
      <p:sp>
        <p:nvSpPr>
          <p:cNvPr id="22" name="Lesson"/>
          <p:cNvSpPr txBox="1"/>
          <p:nvPr/>
        </p:nvSpPr>
        <p:spPr>
          <a:xfrm>
            <a:off x="594360" y="4251960"/>
            <a:ext cx="7955280" cy="411480"/>
          </a:xfrm>
          <a:prstGeom prst="rect">
            <a:avLst/>
          </a:prstGeom>
          <a:noFill/>
          <a:ln/>
        </p:spPr>
        <p:txBody>
          <a:bodyPr wrap="square" lIns="0" tIns="0" rIns="0" bIns="0" rtlCol="0" anchor="ctr"/>
          <a:lstStyle/>
          <a:p>
            <a:pPr indent="0" marL="0">
              <a:buNone/>
            </a:pPr>
            <a:r>
              <a:rPr lang="en-US" sz="1300" b="1" dirty="0">
                <a:solidFill>
                  <a:schemeClr val="bg1"/>
                </a:solidFill>
              </a:rPr>
              <a:t>Lesson: a green pipeline only proves what it tests. Test from an empty database, on the real engine.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Demo plan (8 minutes)</a:t>
            </a:r>
            <a:endParaRPr lang="en-US" sz="3000" dirty="0"/>
          </a:p>
        </p:txBody>
      </p:sp>
      <p:sp>
        <p:nvSpPr>
          <p:cNvPr id="3" name="Use cases card"/>
          <p:cNvSpPr/>
          <p:nvPr/>
        </p:nvSpPr>
        <p:spPr>
          <a:xfrm>
            <a:off x="457200" y="1097280"/>
            <a:ext cx="4114800" cy="3017520"/>
          </a:xfrm>
          <a:prstGeom prst="roundRect">
            <a:avLst>
              <a:gd name="adj" fmla="val 2424"/>
            </a:avLst>
          </a:prstGeom>
          <a:solidFill>
            <a:schemeClr val="bg2"/>
          </a:solidFill>
          <a:ln w="12700">
            <a:solidFill>
              <a:schemeClr val="bg2"/>
            </a:solidFill>
            <a:prstDash val="solid"/>
          </a:ln>
        </p:spPr>
      </p:sp>
      <p:sp>
        <p:nvSpPr>
          <p:cNvPr id="4" name="Use cases heading"/>
          <p:cNvSpPr txBox="1"/>
          <p:nvPr/>
        </p:nvSpPr>
        <p:spPr>
          <a:xfrm>
            <a:off x="640080" y="118872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Use cases</a:t>
            </a:r>
            <a:endParaRPr lang="en-US" sz="1600" dirty="0"/>
          </a:p>
        </p:txBody>
      </p:sp>
      <p:sp>
        <p:nvSpPr>
          <p:cNvPr id="5" name="Use case steps"/>
          <p:cNvSpPr txBox="1"/>
          <p:nvPr/>
        </p:nvSpPr>
        <p:spPr>
          <a:xfrm>
            <a:off x="640080" y="1600200"/>
            <a:ext cx="3749040" cy="23774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Customer: sign in, fill cart, apply coupon, pay</a:t>
            </a:r>
            <a:endParaRPr lang="en-US" sz="1600" dirty="0"/>
          </a:p>
          <a:p>
            <a:pPr marL="342900" indent="-342900">
              <a:spcAft>
                <a:spcPts val="600"/>
              </a:spcAft>
              <a:buSzPct val="100000"/>
              <a:buFont typeface="+mj-lt"/>
              <a:buAutoNum type="arabicPeriod" startAt="1"/>
            </a:pPr>
            <a:r>
              <a:rPr lang="en-US" sz="1600" dirty="0">
                <a:solidFill>
                  <a:schemeClr val="tx1"/>
                </a:solidFill>
              </a:rPr>
              <a:t>Merchant: accept, prepare, mark ready</a:t>
            </a:r>
            <a:endParaRPr lang="en-US" sz="1600" dirty="0"/>
          </a:p>
          <a:p>
            <a:pPr marL="342900" indent="-342900">
              <a:spcAft>
                <a:spcPts val="600"/>
              </a:spcAft>
              <a:buSzPct val="100000"/>
              <a:buFont typeface="+mj-lt"/>
              <a:buAutoNum type="arabicPeriod" startAt="1"/>
            </a:pPr>
            <a:r>
              <a:rPr lang="en-US" sz="1600" dirty="0">
                <a:solidFill>
                  <a:schemeClr val="tx1"/>
                </a:solidFill>
              </a:rPr>
              <a:t>Rider: claim the order, deliver, complete</a:t>
            </a:r>
            <a:endParaRPr lang="en-US" sz="1600" dirty="0"/>
          </a:p>
          <a:p>
            <a:pPr marL="342900" indent="-342900">
              <a:buSzPct val="100000"/>
              <a:buFont typeface="+mj-lt"/>
              <a:buAutoNum type="arabicPeriod" startAt="1"/>
            </a:pPr>
            <a:r>
              <a:rPr lang="en-US" sz="1600" dirty="0">
                <a:solidFill>
                  <a:schemeClr val="tx1"/>
                </a:solidFill>
              </a:rPr>
              <a:t>Customer and administrator both see Completed</a:t>
            </a:r>
            <a:endParaRPr lang="en-US" sz="1600" dirty="0"/>
          </a:p>
        </p:txBody>
      </p:sp>
      <p:sp>
        <p:nvSpPr>
          <p:cNvPr id="6" name="Quality card"/>
          <p:cNvSpPr/>
          <p:nvPr/>
        </p:nvSpPr>
        <p:spPr>
          <a:xfrm>
            <a:off x="4754880" y="1097280"/>
            <a:ext cx="3931920" cy="3017520"/>
          </a:xfrm>
          <a:prstGeom prst="roundRect">
            <a:avLst>
              <a:gd name="adj" fmla="val 2424"/>
            </a:avLst>
          </a:prstGeom>
          <a:solidFill>
            <a:schemeClr val="bg2"/>
          </a:solidFill>
          <a:ln w="12700">
            <a:solidFill>
              <a:schemeClr val="bg2"/>
            </a:solidFill>
            <a:prstDash val="solid"/>
          </a:ln>
        </p:spPr>
      </p:sp>
      <p:sp>
        <p:nvSpPr>
          <p:cNvPr id="7" name="Quality heading"/>
          <p:cNvSpPr txBox="1"/>
          <p:nvPr/>
        </p:nvSpPr>
        <p:spPr>
          <a:xfrm>
            <a:off x="4937760" y="1188720"/>
            <a:ext cx="3566160" cy="320040"/>
          </a:xfrm>
          <a:prstGeom prst="rect">
            <a:avLst/>
          </a:prstGeom>
          <a:noFill/>
          <a:ln/>
        </p:spPr>
        <p:txBody>
          <a:bodyPr wrap="square" lIns="0" tIns="0" rIns="0" bIns="0" rtlCol="0" anchor="t"/>
          <a:lstStyle/>
          <a:p>
            <a:pPr indent="0" marL="0">
              <a:buNone/>
            </a:pPr>
            <a:r>
              <a:rPr lang="en-US" sz="1600" b="1" dirty="0">
                <a:solidFill>
                  <a:schemeClr val="accent1"/>
                </a:solidFill>
              </a:rPr>
              <a:t>Quality attributes</a:t>
            </a:r>
            <a:endParaRPr lang="en-US" sz="1600" dirty="0"/>
          </a:p>
        </p:txBody>
      </p:sp>
      <p:sp>
        <p:nvSpPr>
          <p:cNvPr id="8" name="Quality steps"/>
          <p:cNvSpPr txBox="1"/>
          <p:nvPr/>
        </p:nvSpPr>
        <p:spPr>
          <a:xfrm>
            <a:off x="4937760" y="1600200"/>
            <a:ext cx="3566160" cy="23774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Consistency: a declined payment changes nothing</a:t>
            </a:r>
            <a:endParaRPr lang="en-US" sz="1600" dirty="0"/>
          </a:p>
          <a:p>
            <a:pPr marL="177800" indent="-177800">
              <a:spcAft>
                <a:spcPts val="600"/>
              </a:spcAft>
              <a:buSzPct val="100000"/>
              <a:buChar char="•"/>
            </a:pPr>
            <a:r>
              <a:rPr lang="en-US" sz="1600" dirty="0">
                <a:solidFill>
                  <a:schemeClr val="tx1"/>
                </a:solidFill>
              </a:rPr>
              <a:t>Reliability: a retried payment returns the same order</a:t>
            </a:r>
            <a:endParaRPr lang="en-US" sz="1600" dirty="0"/>
          </a:p>
          <a:p>
            <a:pPr marL="177800" indent="-177800">
              <a:spcAft>
                <a:spcPts val="600"/>
              </a:spcAft>
              <a:buSzPct val="100000"/>
              <a:buChar char="•"/>
            </a:pPr>
            <a:r>
              <a:rPr lang="en-US" sz="1600" dirty="0">
                <a:solidFill>
                  <a:schemeClr val="tx1"/>
                </a:solidFill>
              </a:rPr>
              <a:t>Security: the old admin password is rejected</a:t>
            </a:r>
            <a:endParaRPr lang="en-US" sz="1600" dirty="0"/>
          </a:p>
          <a:p>
            <a:pPr marL="177800" indent="-177800">
              <a:spcAft>
                <a:spcPts val="600"/>
              </a:spcAft>
              <a:buSzPct val="100000"/>
              <a:buChar char="•"/>
            </a:pPr>
            <a:r>
              <a:rPr lang="en-US" sz="1600" dirty="0">
                <a:solidFill>
                  <a:schemeClr val="tx1"/>
                </a:solidFill>
              </a:rPr>
              <a:t>Maintainability: the pipeline run and a rollback drill</a:t>
            </a:r>
            <a:endParaRPr lang="en-US" sz="1600" dirty="0"/>
          </a:p>
        </p:txBody>
      </p:sp>
      <p:sp>
        <p:nvSpPr>
          <p:cNvPr id="9" name="Fallback card"/>
          <p:cNvSpPr/>
          <p:nvPr/>
        </p:nvSpPr>
        <p:spPr>
          <a:xfrm>
            <a:off x="457200" y="4206240"/>
            <a:ext cx="8229600" cy="457200"/>
          </a:xfrm>
          <a:prstGeom prst="roundRect">
            <a:avLst>
              <a:gd name="adj" fmla="val 16000"/>
            </a:avLst>
          </a:prstGeom>
          <a:solidFill>
            <a:schemeClr val="tx1"/>
          </a:solidFill>
          <a:ln w="12700">
            <a:solidFill>
              <a:schemeClr val="tx1"/>
            </a:solidFill>
            <a:prstDash val="solid"/>
          </a:ln>
        </p:spPr>
      </p:sp>
      <p:sp>
        <p:nvSpPr>
          <p:cNvPr id="10" name="Fallback text"/>
          <p:cNvSpPr txBox="1"/>
          <p:nvPr/>
        </p:nvSpPr>
        <p:spPr>
          <a:xfrm>
            <a:off x="594360" y="4206240"/>
            <a:ext cx="7955280" cy="457200"/>
          </a:xfrm>
          <a:prstGeom prst="rect">
            <a:avLst/>
          </a:prstGeom>
          <a:noFill/>
          <a:ln/>
        </p:spPr>
        <p:txBody>
          <a:bodyPr wrap="square" lIns="0" tIns="0" rIns="0" bIns="0" rtlCol="0" anchor="ctr"/>
          <a:lstStyle/>
          <a:p>
            <a:pPr indent="0" marL="0">
              <a:buNone/>
            </a:pPr>
            <a:r>
              <a:rPr lang="en-US" sz="1300" b="1" dirty="0">
                <a:solidFill>
                  <a:schemeClr val="bg1"/>
                </a:solidFill>
              </a:rPr>
              <a:t>Backup: the scripted 19-step smoke test and a recording of the pipeline run.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Lessons and next steps</a:t>
            </a:r>
            <a:endParaRPr lang="en-US" sz="3000" dirty="0"/>
          </a:p>
        </p:txBody>
      </p:sp>
      <p:sp>
        <p:nvSpPr>
          <p:cNvPr id="3" name="Lessons card"/>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Lessons heading"/>
          <p:cNvSpPr txBox="1"/>
          <p:nvPr/>
        </p:nvSpPr>
        <p:spPr>
          <a:xfrm>
            <a:off x="640080" y="1188720"/>
            <a:ext cx="3657600" cy="320040"/>
          </a:xfrm>
          <a:prstGeom prst="rect">
            <a:avLst/>
          </a:prstGeom>
          <a:noFill/>
          <a:ln/>
        </p:spPr>
        <p:txBody>
          <a:bodyPr wrap="square" lIns="0" tIns="0" rIns="0" bIns="0" rtlCol="0" anchor="t"/>
          <a:lstStyle/>
          <a:p>
            <a:pPr indent="0" marL="0">
              <a:buNone/>
            </a:pPr>
            <a:r>
              <a:rPr lang="en-US" sz="1600" b="1" dirty="0">
                <a:solidFill>
                  <a:schemeClr val="accent3"/>
                </a:solidFill>
              </a:rPr>
              <a:t>What we learned</a:t>
            </a:r>
            <a:endParaRPr lang="en-US" sz="1600" dirty="0"/>
          </a:p>
        </p:txBody>
      </p:sp>
      <p:sp>
        <p:nvSpPr>
          <p:cNvPr id="5" name="Lessons list"/>
          <p:cNvSpPr txBox="1"/>
          <p:nvPr/>
        </p:nvSpPr>
        <p:spPr>
          <a:xfrm>
            <a:off x="640080" y="1645920"/>
            <a:ext cx="3657600" cy="28346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Keep authority on the server: prices, identity, totals</a:t>
            </a:r>
            <a:endParaRPr lang="en-US" sz="1400" dirty="0"/>
          </a:p>
          <a:p>
            <a:pPr marL="177800" indent="-177800">
              <a:spcAft>
                <a:spcPts val="800"/>
              </a:spcAft>
              <a:buSzPct val="100000"/>
              <a:buChar char="•"/>
            </a:pPr>
            <a:r>
              <a:rPr lang="en-US" sz="1400" dirty="0">
                <a:solidFill>
                  <a:schemeClr val="tx1"/>
                </a:solidFill>
              </a:rPr>
              <a:t>Let the database enforce what the code assumes</a:t>
            </a:r>
            <a:endParaRPr lang="en-US" sz="1400" dirty="0"/>
          </a:p>
          <a:p>
            <a:pPr marL="177800" indent="-177800">
              <a:spcAft>
                <a:spcPts val="800"/>
              </a:spcAft>
              <a:buSzPct val="100000"/>
              <a:buChar char="•"/>
            </a:pPr>
            <a:r>
              <a:rPr lang="en-US" sz="1400" dirty="0">
                <a:solidFill>
                  <a:schemeClr val="tx1"/>
                </a:solidFill>
              </a:rPr>
              <a:t>Test on the real engine, from an empty database</a:t>
            </a:r>
            <a:endParaRPr lang="en-US" sz="1400" dirty="0"/>
          </a:p>
          <a:p>
            <a:pPr marL="177800" indent="-177800">
              <a:spcAft>
                <a:spcPts val="800"/>
              </a:spcAft>
              <a:buSzPct val="100000"/>
              <a:buChar char="•"/>
            </a:pPr>
            <a:r>
              <a:rPr lang="en-US" sz="1400" dirty="0">
                <a:solidFill>
                  <a:schemeClr val="tx1"/>
                </a:solidFill>
              </a:rPr>
              <a:t>Turn the demo into an automated smoke test</a:t>
            </a:r>
            <a:endParaRPr lang="en-US" sz="1400" dirty="0"/>
          </a:p>
        </p:txBody>
      </p:sp>
      <p:sp>
        <p:nvSpPr>
          <p:cNvPr id="6" name="Next steps card"/>
          <p:cNvSpPr/>
          <p:nvPr/>
        </p:nvSpPr>
        <p:spPr>
          <a:xfrm>
            <a:off x="4663440" y="1097280"/>
            <a:ext cx="4023360" cy="3474720"/>
          </a:xfrm>
          <a:prstGeom prst="roundRect">
            <a:avLst>
              <a:gd name="adj" fmla="val 2105"/>
            </a:avLst>
          </a:prstGeom>
          <a:solidFill>
            <a:schemeClr val="bg2"/>
          </a:solidFill>
          <a:ln w="12700">
            <a:solidFill>
              <a:schemeClr val="bg2"/>
            </a:solidFill>
            <a:prstDash val="solid"/>
          </a:ln>
        </p:spPr>
      </p:sp>
      <p:sp>
        <p:nvSpPr>
          <p:cNvPr id="7" name="Next heading"/>
          <p:cNvSpPr txBox="1"/>
          <p:nvPr/>
        </p:nvSpPr>
        <p:spPr>
          <a:xfrm>
            <a:off x="4846320" y="118872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What we would do next</a:t>
            </a:r>
            <a:endParaRPr lang="en-US" sz="1600" dirty="0"/>
          </a:p>
        </p:txBody>
      </p:sp>
      <p:sp>
        <p:nvSpPr>
          <p:cNvPr id="8" name="Next list"/>
          <p:cNvSpPr txBox="1"/>
          <p:nvPr/>
        </p:nvSpPr>
        <p:spPr>
          <a:xfrm>
            <a:off x="4846320" y="1645920"/>
            <a:ext cx="3657600" cy="28346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Run several API replicas behind the proxy and measure with k6</a:t>
            </a:r>
            <a:endParaRPr lang="en-US" sz="1400" dirty="0"/>
          </a:p>
          <a:p>
            <a:pPr marL="177800" indent="-177800">
              <a:spcAft>
                <a:spcPts val="800"/>
              </a:spcAft>
              <a:buSzPct val="100000"/>
              <a:buChar char="•"/>
            </a:pPr>
            <a:r>
              <a:rPr lang="en-US" sz="1400" dirty="0">
                <a:solidFill>
                  <a:schemeClr val="tx1"/>
                </a:solidFill>
              </a:rPr>
              <a:t>Deploy to a cloud host with scaling rules (Azure target)</a:t>
            </a:r>
            <a:endParaRPr lang="en-US" sz="1400" dirty="0"/>
          </a:p>
          <a:p>
            <a:pPr marL="177800" indent="-177800">
              <a:spcAft>
                <a:spcPts val="800"/>
              </a:spcAft>
              <a:buSzPct val="100000"/>
              <a:buChar char="•"/>
            </a:pPr>
            <a:r>
              <a:rPr lang="en-US" sz="1400" dirty="0">
                <a:solidFill>
                  <a:schemeClr val="tx1"/>
                </a:solidFill>
              </a:rPr>
              <a:t>Connect a real payment provider behind the gateway interface</a:t>
            </a:r>
            <a:endParaRPr lang="en-US" sz="1400" dirty="0"/>
          </a:p>
          <a:p>
            <a:pPr marL="177800" indent="-177800">
              <a:spcAft>
                <a:spcPts val="800"/>
              </a:spcAft>
              <a:buSzPct val="100000"/>
              <a:buChar char="•"/>
            </a:pPr>
            <a:r>
              <a:rPr lang="en-US" sz="1400" dirty="0">
                <a:solidFill>
                  <a:schemeClr val="tx1"/>
                </a:solidFill>
              </a:rPr>
              <a:t>Rate-limit login; alert on audit events</a:t>
            </a:r>
            <a:endParaRPr lang="en-US" sz="1400" dirty="0"/>
          </a:p>
          <a:p>
            <a:pPr marL="177800" indent="-177800">
              <a:spcAft>
                <a:spcPts val="800"/>
              </a:spcAft>
              <a:buSzPct val="100000"/>
              <a:buChar char="•"/>
            </a:pPr>
            <a:r>
              <a:rPr lang="en-US" sz="1400" dirty="0">
                <a:solidFill>
                  <a:schemeClr val="tx1"/>
                </a:solidFill>
              </a:rPr>
              <a:t>Store uploaded dish images on a persistent volume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title"/>
          <p:cNvSpPr txBox="1"/>
          <p:nvPr/>
        </p:nvSpPr>
        <p:spPr>
          <a:xfrm>
            <a:off x="548640" y="1737360"/>
            <a:ext cx="8046720" cy="1097280"/>
          </a:xfrm>
          <a:prstGeom prst="rect">
            <a:avLst/>
          </a:prstGeom>
          <a:noFill/>
          <a:ln/>
        </p:spPr>
        <p:txBody>
          <a:bodyPr wrap="square" lIns="0" tIns="0" rIns="0" bIns="0" rtlCol="0" anchor="t"/>
          <a:lstStyle/>
          <a:p>
            <a:pPr indent="0" marL="0">
              <a:buNone/>
            </a:pPr>
            <a:r>
              <a:rPr lang="en-US" sz="5400" b="1" dirty="0">
                <a:solidFill>
                  <a:schemeClr val="bg1"/>
                </a:solidFill>
              </a:rPr>
              <a:t>Questions?</a:t>
            </a:r>
            <a:endParaRPr lang="en-US" sz="5400" dirty="0"/>
          </a:p>
        </p:txBody>
      </p:sp>
      <p:sp>
        <p:nvSpPr>
          <p:cNvPr id="3" name="Closing line"/>
          <p:cNvSpPr txBox="1"/>
          <p:nvPr/>
        </p:nvSpPr>
        <p:spPr>
          <a:xfrm>
            <a:off x="548640" y="2926080"/>
            <a:ext cx="8046720" cy="457200"/>
          </a:xfrm>
          <a:prstGeom prst="rect">
            <a:avLst/>
          </a:prstGeom>
          <a:noFill/>
          <a:ln/>
        </p:spPr>
        <p:txBody>
          <a:bodyPr wrap="square" lIns="0" tIns="0" rIns="0" bIns="0" rtlCol="0" anchor="t"/>
          <a:lstStyle/>
          <a:p>
            <a:pPr indent="0" marL="0">
              <a:buNone/>
            </a:pPr>
            <a:r>
              <a:rPr lang="en-US" sz="2000" dirty="0">
                <a:solidFill>
                  <a:schemeClr val="accent2"/>
                </a:solidFill>
              </a:rPr>
              <a:t>JiKeDa  ·  Team 3</a:t>
            </a:r>
            <a:endParaRPr lang="en-US" sz="2000" dirty="0"/>
          </a:p>
        </p:txBody>
      </p:sp>
    </p:spTree>
  </p:cSld>
  <p:clrMapOvr>
    <a:masterClrMapping/>
  </p:clrMapOvr>
</p:sld>
</file>

<file path=ppt/theme/theme1.xml><?xml version="1.0" encoding="utf-8"?>
<a:theme xmlns:a="http://schemas.openxmlformats.org/drawingml/2006/main" name="JiKeDa">
  <a:themeElements>
    <a:clrScheme name="JiKeDa">
      <a:dk1>
        <a:srgbClr val="1B1F3B"/>
      </a:dk1>
      <a:lt1>
        <a:srgbClr val="FFFFFF"/>
      </a:lt1>
      <a:dk2>
        <a:srgbClr val="3D405B"/>
      </a:dk2>
      <a:lt2>
        <a:srgbClr val="F1F2F6"/>
      </a:lt2>
      <a:accent1>
        <a:srgbClr val="E4572E"/>
      </a:accent1>
      <a:accent2>
        <a:srgbClr val="F3A712"/>
      </a:accent2>
      <a:accent3>
        <a:srgbClr val="2A9D8F"/>
      </a:accent3>
      <a:accent4>
        <a:srgbClr val="3D5A80"/>
      </a:accent4>
      <a:accent5>
        <a:srgbClr val="7A8BA3"/>
      </a:accent5>
      <a:accent6>
        <a:srgbClr val="8E5572"/>
      </a:accent6>
      <a:hlink>
        <a:srgbClr val="3D5A80"/>
      </a:hlink>
      <a:folHlink>
        <a:srgbClr val="8E5572"/>
      </a:folHlink>
    </a:clrScheme>
    <a:fontScheme name="JiKeD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JiKeDa — Team 3 project presentation</dc:title>
  <dc:subject>PptxGenJS Presentation</dc:subject>
  <dc:creator>Team 3</dc:creator>
  <cp:lastModifiedBy>Team 3</cp:lastModifiedBy>
  <cp:revision>1</cp:revision>
  <dcterms:created xsi:type="dcterms:W3CDTF">2026-10-17T08:09:16Z</dcterms:created>
  <dcterms:modified xsi:type="dcterms:W3CDTF">2026-10-17T08:09:16Z</dcterms:modified>
</cp:coreProperties>
</file>